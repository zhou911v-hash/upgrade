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925e7bea344590" /><Relationship Type="http://schemas.openxmlformats.org/officeDocument/2006/relationships/extended-properties" Target="/docProps/app.xml" Id="R33bf268116284803" /><Relationship Type="http://schemas.openxmlformats.org/officeDocument/2006/relationships/officeDocument" Target="/ppt/presentation.xml" Id="Rc7c4dfa840334a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ffe12728fb4c6a"/>
  </p:sldMasterIdLst>
  <p:notesMasterIdLst>
    <p:notesMasterId xmlns:r="http://schemas.openxmlformats.org/officeDocument/2006/relationships" r:id="R56a7a0d542dd463d"/>
  </p:notesMasterIdLst>
  <p:sldIdLst>
    <p:sldId xmlns:r="http://schemas.openxmlformats.org/officeDocument/2006/relationships" id="256" r:id="R75adf65759454b23"/>
    <p:sldId xmlns:r="http://schemas.openxmlformats.org/officeDocument/2006/relationships" id="257" r:id="R369da262c4b645de"/>
    <p:sldId xmlns:r="http://schemas.openxmlformats.org/officeDocument/2006/relationships" id="258" r:id="R2dce845f2ef54776"/>
    <p:sldId xmlns:r="http://schemas.openxmlformats.org/officeDocument/2006/relationships" id="259" r:id="R53d0e313505546a4"/>
    <p:sldId xmlns:r="http://schemas.openxmlformats.org/officeDocument/2006/relationships" id="260" r:id="Raaaadb58689c4b8e"/>
    <p:sldId xmlns:r="http://schemas.openxmlformats.org/officeDocument/2006/relationships" id="261" r:id="R53532f854af04a9c"/>
    <p:sldId xmlns:r="http://schemas.openxmlformats.org/officeDocument/2006/relationships" id="262" r:id="R76a961b35b7a424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ffe12728fb4c6a" /><Relationship Type="http://schemas.openxmlformats.org/officeDocument/2006/relationships/theme" Target="/ppt/theme/theme1.xml" Id="R4c82303024c14043" /><Relationship Type="http://schemas.openxmlformats.org/officeDocument/2006/relationships/notesMaster" Target="/ppt/notesMasters/notesMaster1.xml" Id="R56a7a0d542dd463d" /><Relationship Type="http://schemas.openxmlformats.org/officeDocument/2006/relationships/presProps" Target="/ppt/presProps.xml" Id="Rab196804b7554501" /><Relationship Type="http://schemas.openxmlformats.org/officeDocument/2006/relationships/viewProps" Target="/ppt/viewProps.xml" Id="R6f87fa25930649f2" /><Relationship Type="http://schemas.openxmlformats.org/officeDocument/2006/relationships/tableStyles" Target="/ppt/tableStyles.xml" Id="Rddae024dd4de4e45" /><Relationship Type="http://schemas.openxmlformats.org/officeDocument/2006/relationships/slide" Target="/ppt/slides/slide1.xml" Id="R75adf65759454b23" /><Relationship Type="http://schemas.openxmlformats.org/officeDocument/2006/relationships/slide" Target="/ppt/slides/slide2.xml" Id="R369da262c4b645de" /><Relationship Type="http://schemas.openxmlformats.org/officeDocument/2006/relationships/slide" Target="/ppt/slides/slide3.xml" Id="R2dce845f2ef54776" /><Relationship Type="http://schemas.openxmlformats.org/officeDocument/2006/relationships/slide" Target="/ppt/slides/slide4.xml" Id="R53d0e313505546a4" /><Relationship Type="http://schemas.openxmlformats.org/officeDocument/2006/relationships/slide" Target="/ppt/slides/slide5.xml" Id="Raaaadb58689c4b8e" /><Relationship Type="http://schemas.openxmlformats.org/officeDocument/2006/relationships/slide" Target="/ppt/slides/slide6.xml" Id="R53532f854af04a9c" /><Relationship Type="http://schemas.openxmlformats.org/officeDocument/2006/relationships/slide" Target="/ppt/slides/slide7.xml" Id="R76a961b35b7a42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fe414f0b54a4b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df737970ff4af6" /><Relationship Type="http://schemas.openxmlformats.org/officeDocument/2006/relationships/notesMaster" Target="/ppt/notesMasters/notesMaster1.xml" Id="R4a650d04faf448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eb27cfb67444adb" /><Relationship Type="http://schemas.openxmlformats.org/officeDocument/2006/relationships/notesMaster" Target="/ppt/notesMasters/notesMaster1.xml" Id="Rff5ec1628b6145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505c2370fdb4ca2" /><Relationship Type="http://schemas.openxmlformats.org/officeDocument/2006/relationships/notesMaster" Target="/ppt/notesMasters/notesMaster1.xml" Id="Rb2db55bf3f594c8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bd0e5da35f4aa6" /><Relationship Type="http://schemas.openxmlformats.org/officeDocument/2006/relationships/notesMaster" Target="/ppt/notesMasters/notesMaster1.xml" Id="R755f88290b234d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06439554a3b4145" /><Relationship Type="http://schemas.openxmlformats.org/officeDocument/2006/relationships/notesMaster" Target="/ppt/notesMasters/notesMaster1.xml" Id="R2c1d04f7092e400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caf7477a24941f8" /><Relationship Type="http://schemas.openxmlformats.org/officeDocument/2006/relationships/notesMaster" Target="/ppt/notesMasters/notesMaster1.xml" Id="R99cbafb18ae147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1122fc0026045f6" /><Relationship Type="http://schemas.openxmlformats.org/officeDocument/2006/relationships/notesMaster" Target="/ppt/notesMasters/notesMaster1.xml" Id="Ra0d3d38bedcb42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封面页。点明当前汇报只聚焦前 5 周设计内容，同时说明代码中已出现少量提前量。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/Users/wxf/Desktop/周文旭毕设/开题报告-基于WPF的智能楼宇照明监控系统的设计与实现.md</a:t>
            </a:r>
          </a:p>
          <a:p xmlns:a="http://schemas.openxmlformats.org/drawingml/2006/main">
            <a:r>
              <a:t>- /Users/wxf/Desktop/周文旭毕设/SmartBuildingLighting/src/SmartBuildingLighting.App/App.xaml.cs</a:t>
            </a:r>
          </a:p>
          <a:p xmlns:a="http://schemas.openxmlformats.org/drawingml/2006/main">
            <a:r>
              <a:t>- /Users/wxf/Desktop/周文旭毕设/SmartBuildingLighting/src/SmartBuildingLighting.Services/LightCircuitService.cs; /Users/wxf/Desktop/周文旭毕设/SmartBuildingLighting/src/SmartBuildingLighting.Services/SceneModeService.cs; /Users/wxf/Desktop/周文旭毕设/SmartBuildingLighting/src/SmartBuildingLighting.Services/ScheduleService.cs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说明本课题不是单纯界面设计，而是把图形监控、控制策略和运行时调度组合成一个完整系统。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/Users/wxf/Desktop/周文旭毕设/开题报告-基于WPF的智能楼宇照明监控系统的设计与实现.md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这里强调三条主线：WPF 负责展示与交互，SQLite 负责存储，通信与 Quartz 负责运行时控制。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/Users/wxf/Desktop/周文旭毕设/SmartBuildingLighting/src/SmartBuildingLighting.App/App.xaml.cs</a:t>
            </a:r>
          </a:p>
          <a:p xmlns:a="http://schemas.openxmlformats.org/drawingml/2006/main">
            <a:r>
              <a:t>- /Users/wxf/Desktop/周文旭毕设/SmartBuildingLighting/src/SmartBuildingLighting.Data/AppDbContext.cs</a:t>
            </a:r>
          </a:p>
          <a:p xmlns:a="http://schemas.openxmlformats.org/drawingml/2006/main">
            <a:r>
              <a:t>- /Users/wxf/Desktop/周文旭毕设/SmartBuildingLighting/src/SmartBuildingLighting.Services/LightCircuitService.cs; /Users/wxf/Desktop/周文旭毕设/SmartBuildingLighting/src/SmartBuildingLighting.Services/SceneModeService.cs; /Users/wxf/Desktop/周文旭毕设/SmartBuildingLighting/src/SmartBuildingLighting.Services/ScheduleService.cs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这页用工程事实说明“不是只有开题文档”，而是已经形成可以继续演进的桌面端原型。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/Users/wxf/Desktop/周文旭毕设/SmartBuildingLighting/src/SmartBuildingLighting.App/App.xaml.cs</a:t>
            </a:r>
          </a:p>
          <a:p xmlns:a="http://schemas.openxmlformats.org/drawingml/2006/main">
            <a:r>
              <a:t>- /Users/wxf/Desktop/周文旭毕设/SmartBuildingLighting/src/SmartBuildingLighting.Data/SeedData.cs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这一页严格对齐前 5 周，不把后面的测试优化和论文收尾提前算作当前阶段成果。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/Users/wxf/Desktop/周文旭毕设/开题报告-基于WPF的智能楼宇照明监控系统的设计与实现.md</a:t>
            </a:r>
          </a:p>
          <a:p xmlns:a="http://schemas.openxmlformats.org/drawingml/2006/main">
            <a:r>
              <a:t>- /Users/wxf/Desktop/周文旭毕设/SmartBuildingLighting/src/SmartBuildingLighting.Data/AppDbContext.cs</a:t>
            </a:r>
          </a:p>
          <a:p xmlns:a="http://schemas.openxmlformats.org/drawingml/2006/main">
            <a:r>
              <a:t>- /Users/wxf/Desktop/周文旭毕设/SmartBuildingLighting/src/SmartBuildingLighting.App/App.xaml.cs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这里的重点是说明“前 5 周主体内容已完成，后续周次开始有提前量，但不夸大为全部完成”。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/Users/wxf/Desktop/周文旭毕设/开题报告-基于WPF的智能楼宇照明监控系统的设计与实现.md</a:t>
            </a:r>
          </a:p>
          <a:p xmlns:a="http://schemas.openxmlformats.org/drawingml/2006/main">
            <a:r>
              <a:t>- /Users/wxf/Desktop/周文旭毕设/SmartBuildingLighting/src/SmartBuildingLighting.Services/LightCircuitService.cs; /Users/wxf/Desktop/周文旭毕设/SmartBuildingLighting/src/SmartBuildingLighting.Services/SceneModeService.cs; /Users/wxf/Desktop/周文旭毕设/SmartBuildingLighting/src/SmartBuildingLighting.Services/ScheduleService.cs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收尾页，强调接下来的工作仍然主要在功能完善、测试优化和论文答辩准备三个方向。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/Users/wxf/Desktop/周文旭毕设/开题报告-基于WPF的智能楼宇照明监控系统的设计与实现.md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d51a9e1eeb455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7F6E4287-6388-4CD5-92F6-4809C571766B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9A7760E7-0175-40FA-A881-0141D35573F8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386A65F-62F1-46A1-93D7-857DEA700D5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19D5E37-D5B4-4BEF-86EA-8C95F41CBA2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9171499-3E71-4607-ADE6-D95D0937701F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91fd4e56bfe41dc" /><Relationship Type="http://schemas.openxmlformats.org/officeDocument/2006/relationships/slideLayout" Target="/ppt/slideLayouts/slideLayout2.xml" Id="Ra766f0c776764c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4A69D9F-778E-4964-ADDC-3CCA251C285F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66f0c776764c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de150ae415427c" /><Relationship Type="http://schemas.openxmlformats.org/officeDocument/2006/relationships/image" Target="/ppt/media/image.png" Id="R5ca3a6cd999348f9" /><Relationship Type="http://schemas.openxmlformats.org/officeDocument/2006/relationships/notesSlide" Target="/ppt/notesSlides/notesSlide1.xml" Id="R8b1b1d0c957242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a3d39eaa5a46da" /><Relationship Type="http://schemas.openxmlformats.org/officeDocument/2006/relationships/image" Target="/ppt/media/image2.png" Id="Rd4f188ce9b7140bb" /><Relationship Type="http://schemas.openxmlformats.org/officeDocument/2006/relationships/notesSlide" Target="/ppt/notesSlides/notesSlide2.xml" Id="R6420f3fa3f5445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65c952fa0a426c" /><Relationship Type="http://schemas.openxmlformats.org/officeDocument/2006/relationships/image" Target="/ppt/media/image3.png" Id="R2f36f7a56beb4441" /><Relationship Type="http://schemas.openxmlformats.org/officeDocument/2006/relationships/notesSlide" Target="/ppt/notesSlides/notesSlide3.xml" Id="Red06c4226f9a487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be353da7b34210" /><Relationship Type="http://schemas.openxmlformats.org/officeDocument/2006/relationships/image" Target="/ppt/media/image4.png" Id="Rf77832741741495e" /><Relationship Type="http://schemas.openxmlformats.org/officeDocument/2006/relationships/notesSlide" Target="/ppt/notesSlides/notesSlide4.xml" Id="Rb367ecb7195f4c6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add026bcdc4454" /><Relationship Type="http://schemas.openxmlformats.org/officeDocument/2006/relationships/image" Target="/ppt/media/image5.png" Id="R19a78dd21a1641a1" /><Relationship Type="http://schemas.openxmlformats.org/officeDocument/2006/relationships/notesSlide" Target="/ppt/notesSlides/notesSlide5.xml" Id="R301d02888ddd494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c21a80c6b44a74" /><Relationship Type="http://schemas.openxmlformats.org/officeDocument/2006/relationships/image" Target="/ppt/media/image6.png" Id="R6ed63887ed6c482d" /><Relationship Type="http://schemas.openxmlformats.org/officeDocument/2006/relationships/notesSlide" Target="/ppt/notesSlides/notesSlide6.xml" Id="Rb4abc1b476f5493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d61f3c8f43482f" /><Relationship Type="http://schemas.openxmlformats.org/officeDocument/2006/relationships/image" Target="/ppt/media/image7.png" Id="R0d666038ef4a46e4" /><Relationship Type="http://schemas.openxmlformats.org/officeDocument/2006/relationships/notesSlide" Target="/ppt/notesSlides/notesSlide7.xml" Id="R2e9bcdfa0b04479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9171499-3E71-4607-ADE6-D95D0937701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a3a6cd999348f9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084159-8899-41A3-9427-7B7C456D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E3F13E-2C46-496A-8D0D-318F1732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74295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7CF0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39F9CD-2DA6-43D6-9C9D-D60ED219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790700"/>
            <a:ext cx="1219200" cy="121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B33C">
              <a:alpha val="2509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4D342A-CABF-4DD8-9BC1-B8B75FB5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618B7D-C08A-43BA-8AB0-76430626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382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4AA8"/>
                </a:solidFill>
              </a:defRPr>
            </a:pPr>
            <a:r>
              <a:rPr sz="975" b="1">
                <a:solidFill>
                  <a:srgbClr val="1F4AA8"/>
                </a:solidFill>
              </a:rPr>
              <a:t>毕业设计阶段汇报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5BCEF2-C8A8-4F65-858A-D6749341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747712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42033"/>
                </a:solidFill>
              </a:defRPr>
            </a:pPr>
            <a:r>
              <a:rPr sz="3600" b="1">
                <a:solidFill>
                  <a:srgbClr val="142033"/>
                </a:solidFill>
              </a:rPr>
              <a:t>基于 WPF 的智能楼宇照明监控系统</a:t>
            </a:r>
          </a:p>
          <a:p xmlns:a="http://schemas.openxmlformats.org/drawingml/2006/main">
            <a:pPr algn="l">
              <a:defRPr sz="3600" b="1">
                <a:solidFill>
                  <a:srgbClr val="142033"/>
                </a:solidFill>
              </a:defRPr>
            </a:pPr>
            <a:r>
              <a:rPr sz="3600" b="1">
                <a:solidFill>
                  <a:srgbClr val="142033"/>
                </a:solidFill>
              </a:rPr>
              <a:t>第 5 周阶段进度汇报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3F7FF3-4891-456C-8689-C648E83B3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581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94B63"/>
                </a:solidFill>
              </a:defRPr>
            </a:pPr>
            <a:r>
              <a:rPr sz="1500" b="0">
                <a:solidFill>
                  <a:srgbClr val="394B63"/>
                </a:solidFill>
              </a:rPr>
              <a:t>围绕 14 周计划，当前重点汇报“要做什么、完成哪些工作、后续如何推进”。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78C6FD-1548-457A-9A2D-2E0B9F37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14800"/>
            <a:ext cx="12001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4C7CF0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CC53DC-3BED-4108-BC09-3601807D4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81475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AA8"/>
                </a:solidFill>
              </a:defRPr>
            </a:pPr>
            <a:r>
              <a:rPr sz="900" b="1">
                <a:solidFill>
                  <a:srgbClr val="1F4AA8"/>
                </a:solidFill>
              </a:rPr>
              <a:t>WPF 桌面端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183E3D-E071-4064-A004-9383B00A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114800"/>
            <a:ext cx="1066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4C7CF0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9AE49E-8E94-433F-A299-D0FF59670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181475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AA8"/>
                </a:solidFill>
              </a:defRPr>
            </a:pPr>
            <a:r>
              <a:rPr sz="900" b="1">
                <a:solidFill>
                  <a:srgbClr val="1F4AA8"/>
                </a:solidFill>
              </a:rPr>
              <a:t>楼宇照明监控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CB2654-38BD-4718-94CF-DB0DA88D6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114800"/>
            <a:ext cx="12001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4C7CF0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7AC38E-2857-4AF0-B70C-65C5A368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181475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AA8"/>
                </a:solidFill>
              </a:defRPr>
            </a:pPr>
            <a:r>
              <a:rPr sz="900" b="1">
                <a:solidFill>
                  <a:srgbClr val="1F4AA8"/>
                </a:solidFill>
              </a:rPr>
              <a:t>第 5 周汇报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829826-EF15-4937-943F-13C1B8EA5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0"/>
            <a:ext cx="3714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F7FB">
              <a:alpha val="94902"/>
            </a:srgbClr>
          </a:solidFill>
          <a:ln xmlns:a="http://schemas.openxmlformats.org/drawingml/2006/main" w="11430">
            <a:solidFill>
              <a:srgbClr val="14203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B112EA-149B-415C-BD7F-F72DB7A6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81550"/>
            <a:ext cx="3200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033"/>
                </a:solidFill>
              </a:defRPr>
            </a:pPr>
            <a:r>
              <a:rPr sz="1725" b="1">
                <a:solidFill>
                  <a:srgbClr val="142033"/>
                </a:solidFill>
              </a:rPr>
              <a:t>已完成前 5 周设计内容，并提前形成可运行原型。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F0F89A-6B3A-46AB-996B-CC8741D5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90900"/>
            <a:ext cx="280035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4F7FB">
              <a:alpha val="94902"/>
            </a:srgbClr>
          </a:solidFill>
          <a:ln xmlns:a="http://schemas.openxmlformats.org/drawingml/2006/main" w="11430">
            <a:solidFill>
              <a:srgbClr val="14203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097053-0C80-4B65-AC06-BE5961A08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19500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4AA8"/>
                </a:solidFill>
              </a:defRPr>
            </a:pPr>
            <a:r>
              <a:rPr sz="1125" b="1">
                <a:solidFill>
                  <a:srgbClr val="1F4AA8"/>
                </a:solidFill>
              </a:rPr>
              <a:t>本次汇报结构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740E60-C346-40D8-B166-820A4E0D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57650"/>
            <a:ext cx="22669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2033"/>
                </a:solidFill>
              </a:defRPr>
            </a:pPr>
            <a:r>
              <a:rPr sz="1425" b="0">
                <a:solidFill>
                  <a:srgbClr val="142033"/>
                </a:solidFill>
              </a:rPr>
              <a:t>01 课题目标与交付方向</a:t>
            </a:r>
          </a:p>
          <a:p xmlns:a="http://schemas.openxmlformats.org/drawingml/2006/main">
            <a:pPr algn="l">
              <a:defRPr sz="1425" b="0">
                <a:solidFill>
                  <a:srgbClr val="142033"/>
                </a:solidFill>
              </a:defRPr>
            </a:pPr>
            <a:r>
              <a:rPr sz="1425" b="0">
                <a:solidFill>
                  <a:srgbClr val="142033"/>
                </a:solidFill>
              </a:rPr>
              <a:t>02 技术路线与工程基础</a:t>
            </a:r>
          </a:p>
          <a:p xmlns:a="http://schemas.openxmlformats.org/drawingml/2006/main">
            <a:pPr algn="l">
              <a:defRPr sz="1425" b="0">
                <a:solidFill>
                  <a:srgbClr val="142033"/>
                </a:solidFill>
              </a:defRPr>
            </a:pPr>
            <a:r>
              <a:rPr sz="1425" b="0">
                <a:solidFill>
                  <a:srgbClr val="142033"/>
                </a:solidFill>
              </a:rPr>
              <a:t>03 前 5 周成果与后续安排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DF54F2-F2FB-4481-872C-608B46A6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7B92"/>
                </a:solidFill>
              </a:defRPr>
            </a:pPr>
            <a:r>
              <a:rPr sz="750" b="0">
                <a:solidFill>
                  <a:srgbClr val="6A7B92"/>
                </a:solidFill>
              </a:rPr>
              <a:t>内容依据开题报告与本地代码整理，当前汇报聚焦前 5 周设计进度，正文均为可编辑对象。</a:t>
            </a:r>
          </a:p>
        </p:txBody>
      </p:sp>
    </p:spTree>
    <p:extLst>
      <p:ext uri="{BB962C8B-B14F-4D97-AF65-F5344CB8AC3E}">
        <p14:creationId xmlns:p14="http://schemas.microsoft.com/office/powerpoint/2010/main" val="9720813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9171499-3E71-4607-ADE6-D95D0937701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f188ce9b7140bb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DE35FD-500D-4C99-B0DD-763FFDC9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1BA8B9-DA29-4C09-8ED9-6026DFD1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4AA8"/>
                </a:solidFill>
              </a:defRPr>
            </a:pPr>
            <a:r>
              <a:rPr sz="975" b="1">
                <a:solidFill>
                  <a:srgbClr val="1F4AA8"/>
                </a:solidFill>
              </a:rPr>
              <a:t>01 / 要做什么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A3C785-7948-4990-9BF6-000BBA3C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F4AA8"/>
                </a:solidFill>
              </a:defRPr>
            </a:pPr>
            <a:r>
              <a:rPr sz="975" b="1">
                <a:solidFill>
                  <a:srgbClr val="1F4AA8"/>
                </a:solidFill>
              </a:rPr>
              <a:t>02 / 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D5B718-244D-4521-AB54-BBEEBB0F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574320-D9DB-4C51-9741-8B8CE529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7CF0"/>
          </a:solidFill>
          <a:ln xmlns:a="http://schemas.openxmlformats.org/drawingml/2006/main" w="19050">
            <a:solidFill>
              <a:srgbClr val="14203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FEC9DF-D1C3-43DA-80B9-8318ABE3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033"/>
                </a:solidFill>
              </a:defRPr>
            </a:pPr>
            <a:r>
              <a:rPr sz="3000" b="1">
                <a:solidFill>
                  <a:srgbClr val="142033"/>
                </a:solidFill>
              </a:rPr>
              <a:t>课题目标与交付方向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06A8BB-8643-4267-9872-0D10EC9B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94B63"/>
                </a:solidFill>
              </a:defRPr>
            </a:pPr>
            <a:r>
              <a:rPr sz="1425" b="0">
                <a:solidFill>
                  <a:srgbClr val="394B63"/>
                </a:solidFill>
              </a:rPr>
              <a:t>系统面向楼宇照明精细化管理，核心是“可视化监控 + 智能控制 + 能耗分析”。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5223F9-6C3B-4F10-B18C-43895927B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972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4C7CF0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C63D66-8FCB-41D3-BBAF-2CFD1C39C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9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5FBC3A-78EC-46BD-AF3D-DF037346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95625"/>
            <a:ext cx="1043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033"/>
                </a:solidFill>
              </a:defRPr>
            </a:pPr>
            <a:r>
              <a:rPr sz="1200" b="0">
                <a:solidFill>
                  <a:srgbClr val="142033"/>
                </a:solidFill>
              </a:rPr>
              <a:t>本课题最终要完成的不是单一页面，而是一套可视化监控、智能控制、能耗分析一体化的桌面系统。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4DA6B9-2BA9-4241-8052-95AC725A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990600"/>
            <a:ext cx="914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4C7CF0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F6DDDD-AB63-4E46-A6D9-F898A0FB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057275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AA8"/>
                </a:solidFill>
              </a:defRPr>
            </a:pPr>
            <a:r>
              <a:rPr sz="900" b="1">
                <a:solidFill>
                  <a:srgbClr val="1F4AA8"/>
                </a:solidFill>
              </a:rPr>
              <a:t>可视化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CEA012-F910-4DC2-89F4-76B3DAF22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990600"/>
            <a:ext cx="914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4C7CF0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D568F9-3179-4214-8DC4-BA9259A4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057275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AA8"/>
                </a:solidFill>
              </a:defRPr>
            </a:pPr>
            <a:r>
              <a:rPr sz="900" b="1">
                <a:solidFill>
                  <a:srgbClr val="1F4AA8"/>
                </a:solidFill>
              </a:rPr>
              <a:t>控制策略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4E87DC-30AB-49F5-B159-7DEAFDCD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990600"/>
            <a:ext cx="914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4C7CF0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12E1C3-A398-4CE8-BBBC-B84CC549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057275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AA8"/>
                </a:solidFill>
              </a:defRPr>
            </a:pPr>
            <a:r>
              <a:rPr sz="900" b="1">
                <a:solidFill>
                  <a:srgbClr val="1F4AA8"/>
                </a:solidFill>
              </a:rPr>
              <a:t>成果提交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D3217D-A34C-473A-B15E-027FB52D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33845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4F7FB">
              <a:alpha val="94902"/>
            </a:srgbClr>
          </a:solidFill>
          <a:ln xmlns:a="http://schemas.openxmlformats.org/drawingml/2006/main" w="11430">
            <a:solidFill>
              <a:srgbClr val="14203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0B9106-9CCE-418B-B9EC-FE760A99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687C72-5734-4D21-A276-864F1198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62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7FB">
              <a:alpha val="94902"/>
            </a:srgbClr>
          </a:solidFill>
          <a:ln xmlns:a="http://schemas.openxmlformats.org/drawingml/2006/main" w="11430">
            <a:solidFill>
              <a:srgbClr val="14203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763209-3F00-4578-A8FF-671F61E7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386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2B767D-7DCB-4DD2-A236-7D0017250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1624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FF821B-7FE3-466B-A050-D39B1A5E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957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3355D7-4AA2-4A1F-8665-0D4B0CFB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43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4AA8"/>
                </a:solidFill>
              </a:defRPr>
            </a:pPr>
            <a:r>
              <a:rPr sz="1125" b="1">
                <a:solidFill>
                  <a:srgbClr val="1F4AA8"/>
                </a:solidFill>
              </a:rPr>
              <a:t>监控可视化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D28FEA-B105-4CE3-92B8-2E4B3758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52950"/>
            <a:ext cx="29273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033"/>
                </a:solidFill>
              </a:defRPr>
            </a:pPr>
            <a:r>
              <a:rPr sz="1275" b="0">
                <a:solidFill>
                  <a:srgbClr val="142033"/>
                </a:solidFill>
              </a:rPr>
              <a:t>通过 WPF</a:t>
            </a:r>
          </a:p>
          <a:p xmlns:a="http://schemas.openxmlformats.org/drawingml/2006/main">
            <a:pPr algn="l">
              <a:defRPr sz="1275" b="0">
                <a:solidFill>
                  <a:srgbClr val="142033"/>
                </a:solidFill>
              </a:defRPr>
            </a:pPr>
            <a:r>
              <a:rPr sz="1275" b="0">
                <a:solidFill>
                  <a:srgbClr val="142033"/>
                </a:solidFill>
              </a:rPr>
              <a:t>绘制楼层平面图，实时展示各区域照明回路状态。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05FCBD-4BCB-47A6-A46D-226837A4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33800"/>
            <a:ext cx="33845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4F7FB">
              <a:alpha val="94902"/>
            </a:srgbClr>
          </a:solidFill>
          <a:ln xmlns:a="http://schemas.openxmlformats.org/drawingml/2006/main" w="11430">
            <a:solidFill>
              <a:srgbClr val="14203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F25D41-3439-4691-A09C-909EC0AB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338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D5E010-E158-4BF5-8ACE-9AB5A9B2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962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7FB">
              <a:alpha val="94902"/>
            </a:srgbClr>
          </a:solidFill>
          <a:ln xmlns:a="http://schemas.openxmlformats.org/drawingml/2006/main" w="11430">
            <a:solidFill>
              <a:srgbClr val="14203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1DFE9D-595A-4849-BF90-2126C6B6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133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7CF0"/>
          </a:solidFill>
          <a:ln xmlns:a="http://schemas.openxmlformats.org/drawingml/2006/main" w="9525">
            <a:solidFill>
              <a:srgbClr val="14203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82DFED-FB63-4412-B21B-C86F8F9B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219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7CF0"/>
          </a:solidFill>
          <a:ln xmlns:a="http://schemas.openxmlformats.org/drawingml/2006/main" w="9525">
            <a:solidFill>
              <a:srgbClr val="14203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771CC8-9BC9-41BD-B580-EB0C09CC1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2005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1D0153-8D6F-4090-9C1D-3EA6D4D2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943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4AA8"/>
                </a:solidFill>
              </a:defRPr>
            </a:pPr>
            <a:r>
              <a:rPr sz="1125" b="1">
                <a:solidFill>
                  <a:srgbClr val="1F4AA8"/>
                </a:solidFill>
              </a:rPr>
              <a:t>智能控制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C76681-63C0-4CEB-9989-FAD9A698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552950"/>
            <a:ext cx="29273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033"/>
                </a:solidFill>
              </a:defRPr>
            </a:pPr>
            <a:r>
              <a:rPr sz="1275" b="0">
                <a:solidFill>
                  <a:srgbClr val="142033"/>
                </a:solidFill>
              </a:rPr>
              <a:t>支持分组控制、情景模式与定时调度，提升管理效率与节能能力</a:t>
            </a:r>
          </a:p>
          <a:p xmlns:a="http://schemas.openxmlformats.org/drawingml/2006/main">
            <a:pPr algn="l">
              <a:defRPr sz="1275" b="0">
                <a:solidFill>
                  <a:srgbClr val="142033"/>
                </a:solidFill>
              </a:defRPr>
            </a:pPr>
            <a:r>
              <a:rPr sz="1275" b="0">
                <a:solidFill>
                  <a:srgbClr val="142033"/>
                </a:solidFill>
              </a:rPr>
              <a:t>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591BBDA-4E34-410B-9AFF-125D518B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33800"/>
            <a:ext cx="33845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4F7FB">
              <a:alpha val="94902"/>
            </a:srgbClr>
          </a:solidFill>
          <a:ln xmlns:a="http://schemas.openxmlformats.org/drawingml/2006/main" w="11430">
            <a:solidFill>
              <a:srgbClr val="14203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C410C5-98C9-4F17-AB79-69A19260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338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B8F134C-A9A2-4704-8E2C-5DCAD1FA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962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7FB">
              <a:alpha val="94902"/>
            </a:srgbClr>
          </a:solidFill>
          <a:ln xmlns:a="http://schemas.openxmlformats.org/drawingml/2006/main" w="11430">
            <a:solidFill>
              <a:srgbClr val="14203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A17A5B6-D7B6-473A-90E4-FA59CDAA9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1052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7CF0"/>
          </a:solidFill>
          <a:ln xmlns:a="http://schemas.openxmlformats.org/drawingml/2006/main" w="9525">
            <a:solidFill>
              <a:srgbClr val="14203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F1F781A-0EB1-433A-ABDE-C87807C1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1910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B33C"/>
          </a:solidFill>
          <a:ln xmlns:a="http://schemas.openxmlformats.org/drawingml/2006/main" w="9525">
            <a:solidFill>
              <a:srgbClr val="14203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D7BC5FE-FFDF-493F-904A-D17B5E32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2767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6B4F"/>
          </a:solidFill>
          <a:ln xmlns:a="http://schemas.openxmlformats.org/drawingml/2006/main" w="9525">
            <a:solidFill>
              <a:srgbClr val="14203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482ECD4-5DAD-42BF-8F69-3FF7837B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943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4AA8"/>
                </a:solidFill>
              </a:defRPr>
            </a:pPr>
            <a:r>
              <a:rPr sz="1125" b="1">
                <a:solidFill>
                  <a:srgbClr val="1F4AA8"/>
                </a:solidFill>
              </a:rPr>
              <a:t>成果交付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C82D3C8-693D-4E43-A7A2-3A0C7534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552950"/>
            <a:ext cx="29273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033"/>
                </a:solidFill>
              </a:defRPr>
            </a:pPr>
            <a:r>
              <a:rPr sz="1275" b="0">
                <a:solidFill>
                  <a:srgbClr val="142033"/>
                </a:solidFill>
              </a:rPr>
              <a:t>完成桌面系统原型、论文、设计手册、中期材料与答辩演示。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6EE184E-8413-49D5-9DD9-AED9B847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7B92"/>
                </a:solidFill>
              </a:defRPr>
            </a:pPr>
            <a:r>
              <a:rPr sz="750" b="0">
                <a:solidFill>
                  <a:srgbClr val="6A7B92"/>
                </a:solidFill>
              </a:rPr>
              <a:t>内容依据开题报告与本地代码整理，当前汇报聚焦前 5 周设计进度，正文均为可编辑对象。</a:t>
            </a:r>
          </a:p>
        </p:txBody>
      </p:sp>
    </p:spTree>
    <p:extLst>
      <p:ext uri="{BB962C8B-B14F-4D97-AF65-F5344CB8AC3E}">
        <p14:creationId xmlns:p14="http://schemas.microsoft.com/office/powerpoint/2010/main" val="8940711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9171499-3E71-4607-ADE6-D95D0937701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36f7a56beb4441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AA95CD-68EF-4DB8-A8BA-486014F2D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96FF85-C0C0-4F8C-9AA0-BE69427C0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4AA8"/>
                </a:solidFill>
              </a:defRPr>
            </a:pPr>
            <a:r>
              <a:rPr sz="975" b="1">
                <a:solidFill>
                  <a:srgbClr val="1F4AA8"/>
                </a:solidFill>
              </a:rPr>
              <a:t>02 / 技术路线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C03403-DADD-4DFC-B4C1-CD092AE70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F4AA8"/>
                </a:solidFill>
              </a:defRPr>
            </a:pPr>
            <a:r>
              <a:rPr sz="975" b="1">
                <a:solidFill>
                  <a:srgbClr val="1F4AA8"/>
                </a:solidFill>
              </a:rPr>
              <a:t>03 / 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5E9821-B426-4C93-AFD1-27D1836B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1BD81E-0AD0-41E3-A630-28316560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7CF0"/>
          </a:solidFill>
          <a:ln xmlns:a="http://schemas.openxmlformats.org/drawingml/2006/main" w="19050">
            <a:solidFill>
              <a:srgbClr val="14203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11DCA6-6C0C-4173-A668-1D3E023E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033"/>
                </a:solidFill>
              </a:defRPr>
            </a:pPr>
            <a:r>
              <a:rPr sz="3000" b="1">
                <a:solidFill>
                  <a:srgbClr val="142033"/>
                </a:solidFill>
              </a:rPr>
              <a:t>桌面端、数据层与运行时方案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92B200-3E24-486C-9103-6A5B5B96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94B63"/>
                </a:solidFill>
              </a:defRPr>
            </a:pPr>
            <a:r>
              <a:rPr sz="1425" b="0">
                <a:solidFill>
                  <a:srgbClr val="394B63"/>
                </a:solidFill>
              </a:rPr>
              <a:t>按开题报告路线，当前关键技术选型已经在本地工程中落地。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72A4B0-5743-4B52-B8CE-EBAE0F145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10972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4C7CF0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5364F2-6633-4AE7-8F8B-A81407B8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9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8E663A-DDAA-47FD-A911-F54A11D14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19425"/>
            <a:ext cx="1043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033"/>
                </a:solidFill>
              </a:defRPr>
            </a:pPr>
            <a:r>
              <a:rPr sz="1200" b="0">
                <a:solidFill>
                  <a:srgbClr val="142033"/>
                </a:solidFill>
              </a:rPr>
              <a:t>当前代码已经把“客户端展示层、数据持久层、运行时控制层”三条线落到了本地工程中。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3D8EC9-6BF0-4FF2-B878-43084117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990600"/>
            <a:ext cx="1066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4C7CF0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72DAD4-C087-46CB-B868-EABA4DBD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057275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AA8"/>
                </a:solidFill>
              </a:defRPr>
            </a:pPr>
            <a:r>
              <a:rPr sz="900" b="1">
                <a:solidFill>
                  <a:srgbClr val="1F4AA8"/>
                </a:solidFill>
              </a:rPr>
              <a:t>.NET 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1A9C8D-B8EF-4728-AC64-516C3CCE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990600"/>
            <a:ext cx="2400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4C7CF0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034A05-F557-4B7A-AA88-68F038C0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057275"/>
            <a:ext cx="2133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AA8"/>
                </a:solidFill>
              </a:defRPr>
            </a:pPr>
            <a:r>
              <a:rPr sz="900" b="1">
                <a:solidFill>
                  <a:srgbClr val="1F4AA8"/>
                </a:solidFill>
              </a:rPr>
              <a:t>SQLite / EF Core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68DC1E-B951-4228-BC16-4457432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990600"/>
            <a:ext cx="1733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4C7CF0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ECF0B8-F476-4FC9-AD78-AB2EA7FD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1057275"/>
            <a:ext cx="146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AA8"/>
                </a:solidFill>
              </a:defRPr>
            </a:pPr>
            <a:r>
              <a:rPr sz="900" b="1">
                <a:solidFill>
                  <a:srgbClr val="1F4AA8"/>
                </a:solidFill>
              </a:rPr>
              <a:t>Quartz / 通信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4BE77A-334E-46A5-B9B2-FA48A14A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314325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F4F7FB">
              <a:alpha val="94902"/>
            </a:srgbClr>
          </a:solidFill>
          <a:ln xmlns:a="http://schemas.openxmlformats.org/drawingml/2006/main" w="11430">
            <a:solidFill>
              <a:srgbClr val="14203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E98767-66FF-4454-AADA-8B2DB227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BAEE5E-5D47-4E94-ADAA-AC6711545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624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033"/>
                </a:solidFill>
              </a:defRPr>
            </a:pPr>
            <a:r>
              <a:rPr sz="2550" b="1">
                <a:solidFill>
                  <a:srgbClr val="142033"/>
                </a:solidFill>
              </a:rPr>
              <a:t>.NET 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6E35F2-A77F-4BF5-8B1D-98C786C3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148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94B63"/>
                </a:solidFill>
              </a:defRPr>
            </a:pPr>
            <a:r>
              <a:rPr sz="1200" b="0">
                <a:solidFill>
                  <a:srgbClr val="394B63"/>
                </a:solidFill>
              </a:rPr>
              <a:t>WPF 客户端 + MVVM 页面框架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14BA77-2E4B-4FDF-A9FA-922BC1D3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7B92"/>
                </a:solidFill>
              </a:defRPr>
            </a:pPr>
            <a:r>
              <a:rPr sz="750" b="0">
                <a:solidFill>
                  <a:srgbClr val="6A7B92"/>
                </a:solidFill>
              </a:rPr>
              <a:t>App.xaml.cs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5D39FC-2EAF-4F89-8BA8-638EB7CA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33800"/>
            <a:ext cx="314325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F4F7FB">
              <a:alpha val="94902"/>
            </a:srgbClr>
          </a:solidFill>
          <a:ln xmlns:a="http://schemas.openxmlformats.org/drawingml/2006/main" w="11430">
            <a:solidFill>
              <a:srgbClr val="14203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DB1C0C-3E4B-4A07-97E7-A87B1DA38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338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3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2C8B18-3A06-44D9-8E3F-EFAF2F9E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9624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033"/>
                </a:solidFill>
              </a:defRPr>
            </a:pPr>
            <a:r>
              <a:rPr sz="2550" b="1">
                <a:solidFill>
                  <a:srgbClr val="142033"/>
                </a:solidFill>
              </a:rPr>
              <a:t>SQLite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31BEAE-5309-472D-A633-B034A978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5148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94B63"/>
                </a:solidFill>
              </a:defRPr>
            </a:pPr>
            <a:r>
              <a:rPr sz="1200" b="0">
                <a:solidFill>
                  <a:srgbClr val="394B63"/>
                </a:solidFill>
              </a:rPr>
              <a:t>EF Core 管理核心数据模型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741B7B-F91D-46EB-8C16-E4CAF1E83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7B92"/>
                </a:solidFill>
              </a:defRPr>
            </a:pPr>
            <a:r>
              <a:rPr sz="750" b="0">
                <a:solidFill>
                  <a:srgbClr val="6A7B92"/>
                </a:solidFill>
              </a:rPr>
              <a:t>AppDbContext.cs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BCEE86-A342-4506-8878-26D491825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33800"/>
            <a:ext cx="314325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F4F7FB">
              <a:alpha val="94902"/>
            </a:srgbClr>
          </a:solidFill>
          <a:ln xmlns:a="http://schemas.openxmlformats.org/drawingml/2006/main" w="11430">
            <a:solidFill>
              <a:srgbClr val="14203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028549-B6E0-403C-9CC9-B25A74B0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338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299FF6-C268-4BDE-B600-A0774AAE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624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033"/>
                </a:solidFill>
              </a:defRPr>
            </a:pPr>
            <a:r>
              <a:rPr sz="2550" b="1">
                <a:solidFill>
                  <a:srgbClr val="142033"/>
                </a:solidFill>
              </a:rPr>
              <a:t>Quartz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E8F998-FE18-4667-9A06-FEAC06AD5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148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94B63"/>
                </a:solidFill>
              </a:defRPr>
            </a:pPr>
            <a:r>
              <a:rPr sz="1200" b="0">
                <a:solidFill>
                  <a:srgbClr val="394B63"/>
                </a:solidFill>
              </a:rPr>
              <a:t>定时调度与运行时服务已接入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3F9F7B-FAB0-4054-928C-313456DD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7B92"/>
                </a:solidFill>
              </a:defRPr>
            </a:pPr>
            <a:r>
              <a:rPr sz="750" b="0">
                <a:solidFill>
                  <a:srgbClr val="6A7B92"/>
                </a:solidFill>
              </a:rPr>
              <a:t>ScheduleService.cs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C5665B-8C1E-4B36-B686-14EA4D808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7B92"/>
                </a:solidFill>
              </a:defRPr>
            </a:pPr>
            <a:r>
              <a:rPr sz="750" b="0">
                <a:solidFill>
                  <a:srgbClr val="6A7B92"/>
                </a:solidFill>
              </a:rPr>
              <a:t>内容依据开题报告与本地代码整理，当前汇报聚焦前 5 周设计进度，正文均为可编辑对象。</a:t>
            </a:r>
          </a:p>
        </p:txBody>
      </p:sp>
    </p:spTree>
    <p:extLst>
      <p:ext uri="{BB962C8B-B14F-4D97-AF65-F5344CB8AC3E}">
        <p14:creationId xmlns:p14="http://schemas.microsoft.com/office/powerpoint/2010/main" val="15250436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9171499-3E71-4607-ADE6-D95D0937701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7832741741495e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33482A-B382-4E0B-8001-448F6285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983953-F61C-4E42-B803-EE73454A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4AA8"/>
                </a:solidFill>
              </a:defRPr>
            </a:pPr>
            <a:r>
              <a:rPr sz="975" b="1">
                <a:solidFill>
                  <a:srgbClr val="1F4AA8"/>
                </a:solidFill>
              </a:rPr>
              <a:t>03 / 已完成工作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CF2FC9-975F-465B-B3D3-07448ABC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F4AA8"/>
                </a:solidFill>
              </a:defRPr>
            </a:pPr>
            <a:r>
              <a:rPr sz="975" b="1">
                <a:solidFill>
                  <a:srgbClr val="1F4AA8"/>
                </a:solidFill>
              </a:rPr>
              <a:t>04 / 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37978D-83ED-49D9-8442-6DB1C295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2142B1-1126-478D-86F4-FDEB262D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7CF0"/>
          </a:solidFill>
          <a:ln xmlns:a="http://schemas.openxmlformats.org/drawingml/2006/main" w="19050">
            <a:solidFill>
              <a:srgbClr val="14203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C2E558-4D67-4211-A3C3-3E33814CD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033"/>
                </a:solidFill>
              </a:defRPr>
            </a:pPr>
            <a:r>
              <a:rPr sz="3000" b="1">
                <a:solidFill>
                  <a:srgbClr val="142033"/>
                </a:solidFill>
              </a:rPr>
              <a:t>当前已形成的工程基础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3D2A39-D916-4B27-9F47-977F0CC8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94B63"/>
                </a:solidFill>
              </a:defRPr>
            </a:pPr>
            <a:r>
              <a:rPr sz="1425" b="0">
                <a:solidFill>
                  <a:srgbClr val="394B63"/>
                </a:solidFill>
              </a:rPr>
              <a:t>代码侧已经落地的结构，足以支撑前 5 周阶段成果展示。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0DFDF3-AA2C-4874-88B2-046BF3601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972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4C7CF0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3862C1-DD97-491B-8244-46EFAB90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9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FD0312-D7C9-4850-A99E-3BAA4F49A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95625"/>
            <a:ext cx="1043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033"/>
                </a:solidFill>
              </a:defRPr>
            </a:pPr>
            <a:r>
              <a:rPr sz="1200" b="0">
                <a:solidFill>
                  <a:srgbClr val="142033"/>
                </a:solidFill>
              </a:rPr>
              <a:t>从工程结构、演示数据到页面注册，已经具备展示前 5 周设计成果的基本条件。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A009B6-40E0-4670-AA0A-66692945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33845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4F7FB">
              <a:alpha val="94902"/>
            </a:srgbClr>
          </a:solidFill>
          <a:ln xmlns:a="http://schemas.openxmlformats.org/drawingml/2006/main" w="11430">
            <a:solidFill>
              <a:srgbClr val="14203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C72643-0BA6-493F-8078-F59D85F6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2D6755-CDBD-450D-AFA2-876C6D0A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62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7FB">
              <a:alpha val="94902"/>
            </a:srgbClr>
          </a:solidFill>
          <a:ln xmlns:a="http://schemas.openxmlformats.org/drawingml/2006/main" w="11430">
            <a:solidFill>
              <a:srgbClr val="14203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103409-3CB4-44CE-9BA0-53762AFE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386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60E481-A132-4346-9004-2E4449668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1624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8E4C6D-0A37-44E9-8FC2-C5D7BC60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957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4A3047-E56C-4392-9453-49CF5712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43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4AA8"/>
                </a:solidFill>
              </a:defRPr>
            </a:pPr>
            <a:r>
              <a:rPr sz="1125" b="1">
                <a:solidFill>
                  <a:srgbClr val="1F4AA8"/>
                </a:solidFill>
              </a:rPr>
              <a:t>四层工程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51FE2B-F27B-4CA0-9DC3-E96CF9E75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52950"/>
            <a:ext cx="29273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033"/>
                </a:solidFill>
              </a:defRPr>
            </a:pPr>
            <a:r>
              <a:rPr sz="1275" b="0">
                <a:solidFill>
                  <a:srgbClr val="142033"/>
                </a:solidFill>
              </a:rPr>
              <a:t>已完成 Core、Data、Services、App</a:t>
            </a:r>
          </a:p>
          <a:p xmlns:a="http://schemas.openxmlformats.org/drawingml/2006/main">
            <a:pPr algn="l">
              <a:defRPr sz="1275" b="0">
                <a:solidFill>
                  <a:srgbClr val="142033"/>
                </a:solidFill>
              </a:defRPr>
            </a:pPr>
            <a:r>
              <a:rPr sz="1275" b="0">
                <a:solidFill>
                  <a:srgbClr val="142033"/>
                </a:solidFill>
              </a:rPr>
              <a:t>四层拆分，结构清晰、便于继续扩展。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077979-F670-408D-9066-2BF5B57E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33800"/>
            <a:ext cx="33845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4F7FB">
              <a:alpha val="94902"/>
            </a:srgbClr>
          </a:solidFill>
          <a:ln xmlns:a="http://schemas.openxmlformats.org/drawingml/2006/main" w="11430">
            <a:solidFill>
              <a:srgbClr val="14203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E90C50-90E2-440A-B7DC-FBDBC660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338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E768BF-6D50-4655-A7CB-AA8A642B5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962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7FB">
              <a:alpha val="94902"/>
            </a:srgbClr>
          </a:solidFill>
          <a:ln xmlns:a="http://schemas.openxmlformats.org/drawingml/2006/main" w="11430">
            <a:solidFill>
              <a:srgbClr val="14203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6289F1-638C-4E3D-95A7-B0A7144E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133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7CF0"/>
          </a:solidFill>
          <a:ln xmlns:a="http://schemas.openxmlformats.org/drawingml/2006/main" w="9525">
            <a:solidFill>
              <a:srgbClr val="14203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66BF7C-B6FE-4615-A6A7-3D629129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219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7CF0"/>
          </a:solidFill>
          <a:ln xmlns:a="http://schemas.openxmlformats.org/drawingml/2006/main" w="9525">
            <a:solidFill>
              <a:srgbClr val="14203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1B8B1D-7DB5-4C8B-BA5E-B24EF9BAB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2005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765626-BFC6-4EC6-B3CE-9DB2592C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943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4AA8"/>
                </a:solidFill>
              </a:defRPr>
            </a:pPr>
            <a:r>
              <a:rPr sz="1125" b="1">
                <a:solidFill>
                  <a:srgbClr val="1F4AA8"/>
                </a:solidFill>
              </a:rPr>
              <a:t>五层楼宇样例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CFF45A-2CD3-4839-918E-F834042D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552950"/>
            <a:ext cx="29273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033"/>
                </a:solidFill>
              </a:defRPr>
            </a:pPr>
            <a:r>
              <a:rPr sz="1275" b="0">
                <a:solidFill>
                  <a:srgbClr val="142033"/>
                </a:solidFill>
              </a:rPr>
              <a:t>SeedData 已配置 5</a:t>
            </a:r>
          </a:p>
          <a:p xmlns:a="http://schemas.openxmlformats.org/drawingml/2006/main">
            <a:pPr algn="l">
              <a:defRPr sz="1275" b="0">
                <a:solidFill>
                  <a:srgbClr val="142033"/>
                </a:solidFill>
              </a:defRPr>
            </a:pPr>
            <a:r>
              <a:rPr sz="1275" b="0">
                <a:solidFill>
                  <a:srgbClr val="142033"/>
                </a:solidFill>
              </a:rPr>
              <a:t>层楼、区域和照明回路，可直接用于演示与测试。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4A243A-67E4-4104-97F8-C549578F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33800"/>
            <a:ext cx="33845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4F7FB">
              <a:alpha val="94902"/>
            </a:srgbClr>
          </a:solidFill>
          <a:ln xmlns:a="http://schemas.openxmlformats.org/drawingml/2006/main" w="11430">
            <a:solidFill>
              <a:srgbClr val="14203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14075-A8EB-4E18-98EA-9CD4D2752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338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5B6FEB-CF53-4228-84C2-E0BD10CC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962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7FB">
              <a:alpha val="94902"/>
            </a:srgbClr>
          </a:solidFill>
          <a:ln xmlns:a="http://schemas.openxmlformats.org/drawingml/2006/main" w="11430">
            <a:solidFill>
              <a:srgbClr val="14203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121ACF-128D-48C4-8E47-84FBA9CD9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1052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7CF0"/>
          </a:solidFill>
          <a:ln xmlns:a="http://schemas.openxmlformats.org/drawingml/2006/main" w="9525">
            <a:solidFill>
              <a:srgbClr val="14203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9424AA-A537-469E-9975-7EF53207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1910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B33C"/>
          </a:solidFill>
          <a:ln xmlns:a="http://schemas.openxmlformats.org/drawingml/2006/main" w="9525">
            <a:solidFill>
              <a:srgbClr val="14203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DD9064-3994-4A83-BA2B-06C10D45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2767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6B4F"/>
          </a:solidFill>
          <a:ln xmlns:a="http://schemas.openxmlformats.org/drawingml/2006/main" w="9525">
            <a:solidFill>
              <a:srgbClr val="14203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18B729C-3AA1-4253-A0A6-B96829C89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943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4AA8"/>
                </a:solidFill>
              </a:defRPr>
            </a:pPr>
            <a:r>
              <a:rPr sz="1125" b="1">
                <a:solidFill>
                  <a:srgbClr val="1F4AA8"/>
                </a:solidFill>
              </a:rPr>
              <a:t>九个主要页面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EC0FBE4-2BFB-42FD-8081-A7D00CFE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552950"/>
            <a:ext cx="29273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033"/>
                </a:solidFill>
              </a:defRPr>
            </a:pPr>
            <a:r>
              <a:rPr sz="1275" b="0">
                <a:solidFill>
                  <a:srgbClr val="142033"/>
                </a:solidFill>
              </a:rPr>
              <a:t>已注册驾驶舱、监控、分组、情景、定时、能耗、日志与设置页</a:t>
            </a:r>
          </a:p>
          <a:p xmlns:a="http://schemas.openxmlformats.org/drawingml/2006/main">
            <a:pPr algn="l">
              <a:defRPr sz="1275" b="0">
                <a:solidFill>
                  <a:srgbClr val="142033"/>
                </a:solidFill>
              </a:defRPr>
            </a:pPr>
            <a:r>
              <a:rPr sz="1275" b="0">
                <a:solidFill>
                  <a:srgbClr val="142033"/>
                </a:solidFill>
              </a:rPr>
              <a:t>面。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2858A55-F5FA-443E-BC63-8F7B8B2D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7B92"/>
                </a:solidFill>
              </a:defRPr>
            </a:pPr>
            <a:r>
              <a:rPr sz="750" b="0">
                <a:solidFill>
                  <a:srgbClr val="6A7B92"/>
                </a:solidFill>
              </a:rPr>
              <a:t>内容依据开题报告与本地代码整理，当前汇报聚焦前 5 周设计进度，正文均为可编辑对象。</a:t>
            </a:r>
          </a:p>
        </p:txBody>
      </p:sp>
    </p:spTree>
    <p:extLst>
      <p:ext uri="{BB962C8B-B14F-4D97-AF65-F5344CB8AC3E}">
        <p14:creationId xmlns:p14="http://schemas.microsoft.com/office/powerpoint/2010/main" val="12701760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9171499-3E71-4607-ADE6-D95D0937701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a78dd21a1641a1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BEAEC3-27B9-465A-BBFA-F3A278A0E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B977DB-1AA7-46CA-AF4B-DD4D87FE6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4AA8"/>
                </a:solidFill>
              </a:defRPr>
            </a:pPr>
            <a:r>
              <a:rPr sz="975" b="1">
                <a:solidFill>
                  <a:srgbClr val="1F4AA8"/>
                </a:solidFill>
              </a:rPr>
              <a:t>04 / 已完成工作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6F9E94-41CA-4B9A-8ABF-E974AE6D0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F4AA8"/>
                </a:solidFill>
              </a:defRPr>
            </a:pPr>
            <a:r>
              <a:rPr sz="975" b="1">
                <a:solidFill>
                  <a:srgbClr val="1F4AA8"/>
                </a:solidFill>
              </a:rPr>
              <a:t>05 / 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E650F3-E277-4494-B311-99157DBD7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8AAA68-1B3B-4AA0-9FCC-C72C2D1A8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7CF0"/>
          </a:solidFill>
          <a:ln xmlns:a="http://schemas.openxmlformats.org/drawingml/2006/main" w="19050">
            <a:solidFill>
              <a:srgbClr val="14203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26D2E1-33D5-4E60-9CB7-8E6E47F3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033"/>
                </a:solidFill>
              </a:defRPr>
            </a:pPr>
            <a:r>
              <a:rPr sz="3000" b="1">
                <a:solidFill>
                  <a:srgbClr val="142033"/>
                </a:solidFill>
              </a:rPr>
              <a:t>围绕前 5 周计划已完成的主要内容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F40C9E-6922-444C-B526-E7150F69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94B63"/>
                </a:solidFill>
              </a:defRPr>
            </a:pPr>
            <a:r>
              <a:rPr sz="1425" b="0">
                <a:solidFill>
                  <a:srgbClr val="394B63"/>
                </a:solidFill>
              </a:rPr>
              <a:t>需求、选型、数据库与界面设计四条主线已经基本闭合。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EF36E1-ED7A-491F-9485-89A748935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972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4C7CF0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41EEA5-CAEC-495C-AFB2-97EE2FA9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9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5D2AFE-931D-4808-9C7B-D466B076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95625"/>
            <a:ext cx="1043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033"/>
                </a:solidFill>
              </a:defRPr>
            </a:pPr>
            <a:r>
              <a:rPr sz="1200" b="0">
                <a:solidFill>
                  <a:srgbClr val="142033"/>
                </a:solidFill>
              </a:rPr>
              <a:t>前 5 周主要聚焦需求、选型、数据库与界面设计，当前这些内容已经基本闭合。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467947-07A3-4C33-BB8D-6ADE3089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33845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4F7FB">
              <a:alpha val="94902"/>
            </a:srgbClr>
          </a:solidFill>
          <a:ln xmlns:a="http://schemas.openxmlformats.org/drawingml/2006/main" w="11430">
            <a:solidFill>
              <a:srgbClr val="14203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B9832E-6B4D-4295-BA95-0059A15F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B04B29-F4E4-49DF-A907-BE295E8F0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62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7FB">
              <a:alpha val="94902"/>
            </a:srgbClr>
          </a:solidFill>
          <a:ln xmlns:a="http://schemas.openxmlformats.org/drawingml/2006/main" w="11430">
            <a:solidFill>
              <a:srgbClr val="14203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7811D2-2763-4075-8F18-63389A3A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386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A27806-87B3-49EB-B426-96691D65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1624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E4EBE5-30AB-4536-96D5-A3CCADC8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957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A04E0C-A5DE-400B-A425-E08B5463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43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4AA8"/>
                </a:solidFill>
              </a:defRPr>
            </a:pPr>
            <a:r>
              <a:rPr sz="1125" b="1">
                <a:solidFill>
                  <a:srgbClr val="1F4AA8"/>
                </a:solidFill>
              </a:rPr>
              <a:t>计划与需求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ADE8D8-1E93-41A7-B7E2-4F784D66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52950"/>
            <a:ext cx="29273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033"/>
                </a:solidFill>
              </a:defRPr>
            </a:pPr>
            <a:r>
              <a:rPr sz="1275" b="0">
                <a:solidFill>
                  <a:srgbClr val="142033"/>
                </a:solidFill>
              </a:rPr>
              <a:t>已完成任务书阅读、资料调研、开题报告撰写和 14</a:t>
            </a:r>
          </a:p>
          <a:p xmlns:a="http://schemas.openxmlformats.org/drawingml/2006/main">
            <a:pPr algn="l">
              <a:defRPr sz="1275" b="0">
                <a:solidFill>
                  <a:srgbClr val="142033"/>
                </a:solidFill>
              </a:defRPr>
            </a:pPr>
            <a:r>
              <a:rPr sz="1275" b="0">
                <a:solidFill>
                  <a:srgbClr val="142033"/>
                </a:solidFill>
              </a:rPr>
              <a:t>周计划拆解。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DC548D-C567-41B3-B069-36495439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33800"/>
            <a:ext cx="33845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4F7FB">
              <a:alpha val="94902"/>
            </a:srgbClr>
          </a:solidFill>
          <a:ln xmlns:a="http://schemas.openxmlformats.org/drawingml/2006/main" w="11430">
            <a:solidFill>
              <a:srgbClr val="14203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C9A24D-08CB-4F16-A192-31B96DD71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338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7894B5-3496-44F0-8D7C-B0770B58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962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7FB">
              <a:alpha val="94902"/>
            </a:srgbClr>
          </a:solidFill>
          <a:ln xmlns:a="http://schemas.openxmlformats.org/drawingml/2006/main" w="11430">
            <a:solidFill>
              <a:srgbClr val="14203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E900F5-32B5-429C-A142-7D5A1AE5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133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7CF0"/>
          </a:solidFill>
          <a:ln xmlns:a="http://schemas.openxmlformats.org/drawingml/2006/main" w="9525">
            <a:solidFill>
              <a:srgbClr val="14203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652F4A-3F4B-4855-88D0-86F71FD6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219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7CF0"/>
          </a:solidFill>
          <a:ln xmlns:a="http://schemas.openxmlformats.org/drawingml/2006/main" w="9525">
            <a:solidFill>
              <a:srgbClr val="14203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95098A-1E93-4DAE-8EA9-500FAF22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2005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924E1C-B0D6-43A9-A7EA-4F4A4C62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943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4AA8"/>
                </a:solidFill>
              </a:defRPr>
            </a:pPr>
            <a:r>
              <a:rPr sz="1125" b="1">
                <a:solidFill>
                  <a:srgbClr val="1F4AA8"/>
                </a:solidFill>
              </a:rPr>
              <a:t>数据模型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357046-2904-4FF5-8F87-8CD688A85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552950"/>
            <a:ext cx="29273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033"/>
                </a:solidFill>
              </a:defRPr>
            </a:pPr>
            <a:r>
              <a:rPr sz="1275" b="0">
                <a:solidFill>
                  <a:srgbClr val="142033"/>
                </a:solidFill>
              </a:rPr>
              <a:t>已完成楼层、区域、回路、分组、情景、计划、日志等核心实体</a:t>
            </a:r>
          </a:p>
          <a:p xmlns:a="http://schemas.openxmlformats.org/drawingml/2006/main">
            <a:pPr algn="l">
              <a:defRPr sz="1275" b="0">
                <a:solidFill>
                  <a:srgbClr val="142033"/>
                </a:solidFill>
              </a:defRPr>
            </a:pPr>
            <a:r>
              <a:rPr sz="1275" b="0">
                <a:solidFill>
                  <a:srgbClr val="142033"/>
                </a:solidFill>
              </a:rPr>
              <a:t>设计。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9AF0B7-F48B-4311-BF6C-A953F7EB2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33800"/>
            <a:ext cx="33845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4F7FB">
              <a:alpha val="94902"/>
            </a:srgbClr>
          </a:solidFill>
          <a:ln xmlns:a="http://schemas.openxmlformats.org/drawingml/2006/main" w="11430">
            <a:solidFill>
              <a:srgbClr val="14203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17319B-505D-4304-A5B4-7DED9AAC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338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59AB3B-51E1-4C96-98B1-8879CD62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962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7FB">
              <a:alpha val="94902"/>
            </a:srgbClr>
          </a:solidFill>
          <a:ln xmlns:a="http://schemas.openxmlformats.org/drawingml/2006/main" w="11430">
            <a:solidFill>
              <a:srgbClr val="14203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C619A9-27A6-46AE-830F-6482A0381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1052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7CF0"/>
          </a:solidFill>
          <a:ln xmlns:a="http://schemas.openxmlformats.org/drawingml/2006/main" w="9525">
            <a:solidFill>
              <a:srgbClr val="14203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53C24A-6F18-48A8-A30B-3FB91C1A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1910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B33C"/>
          </a:solidFill>
          <a:ln xmlns:a="http://schemas.openxmlformats.org/drawingml/2006/main" w="9525">
            <a:solidFill>
              <a:srgbClr val="14203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1BA45B-4F20-4D2A-9435-8A873DEB9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2767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6B4F"/>
          </a:solidFill>
          <a:ln xmlns:a="http://schemas.openxmlformats.org/drawingml/2006/main" w="9525">
            <a:solidFill>
              <a:srgbClr val="14203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3E8C1BA-24BB-42F2-9C62-CE53AA985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943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4AA8"/>
                </a:solidFill>
              </a:defRPr>
            </a:pPr>
            <a:r>
              <a:rPr sz="1125" b="1">
                <a:solidFill>
                  <a:srgbClr val="1F4AA8"/>
                </a:solidFill>
              </a:rPr>
              <a:t>页面原型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E49E663-A334-410A-938C-EA8E943E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552950"/>
            <a:ext cx="29273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033"/>
                </a:solidFill>
              </a:defRPr>
            </a:pPr>
            <a:r>
              <a:rPr sz="1275" b="0">
                <a:solidFill>
                  <a:srgbClr val="142033"/>
                </a:solidFill>
              </a:rPr>
              <a:t>已形成登录、驾驶舱、楼层监控、分组控制和情景模式等原型页</a:t>
            </a:r>
          </a:p>
          <a:p xmlns:a="http://schemas.openxmlformats.org/drawingml/2006/main">
            <a:pPr algn="l">
              <a:defRPr sz="1275" b="0">
                <a:solidFill>
                  <a:srgbClr val="142033"/>
                </a:solidFill>
              </a:defRPr>
            </a:pPr>
            <a:r>
              <a:rPr sz="1275" b="0">
                <a:solidFill>
                  <a:srgbClr val="142033"/>
                </a:solidFill>
              </a:rPr>
              <a:t>面。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CD8ACB3-42C9-4DF0-AAA7-B02E3A99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7B92"/>
                </a:solidFill>
              </a:defRPr>
            </a:pPr>
            <a:r>
              <a:rPr sz="750" b="0">
                <a:solidFill>
                  <a:srgbClr val="6A7B92"/>
                </a:solidFill>
              </a:rPr>
              <a:t>内容依据开题报告与本地代码整理，当前汇报聚焦前 5 周设计进度，正文均为可编辑对象。</a:t>
            </a:r>
          </a:p>
        </p:txBody>
      </p:sp>
    </p:spTree>
    <p:extLst>
      <p:ext uri="{BB962C8B-B14F-4D97-AF65-F5344CB8AC3E}">
        <p14:creationId xmlns:p14="http://schemas.microsoft.com/office/powerpoint/2010/main" val="12331982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9171499-3E71-4607-ADE6-D95D0937701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d63887ed6c482d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1E64DC-0CD1-4401-B264-9C71C67E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372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C577F4-D313-4C4A-81DB-9D8CD31C4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4AA8"/>
                </a:solidFill>
              </a:defRPr>
            </a:pPr>
            <a:r>
              <a:rPr sz="975" b="1">
                <a:solidFill>
                  <a:srgbClr val="1F4AA8"/>
                </a:solidFill>
              </a:rPr>
              <a:t>05 / 计划对照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BD3457-D5FC-41FD-85CC-78D1C093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F4AA8"/>
                </a:solidFill>
              </a:defRPr>
            </a:pPr>
            <a:r>
              <a:rPr sz="975" b="1">
                <a:solidFill>
                  <a:srgbClr val="1F4AA8"/>
                </a:solidFill>
              </a:rPr>
              <a:t>06 / 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73D34B-9EFF-4095-9F50-14F73F05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CDA8A5-9D88-4582-BEEF-9A589BD0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7CF0"/>
          </a:solidFill>
          <a:ln xmlns:a="http://schemas.openxmlformats.org/drawingml/2006/main" w="19050">
            <a:solidFill>
              <a:srgbClr val="14203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CDBB5F-CCF2-4BBB-8681-B6D2D242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620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033"/>
                </a:solidFill>
              </a:defRPr>
            </a:pPr>
            <a:r>
              <a:rPr sz="3000" b="1">
                <a:solidFill>
                  <a:srgbClr val="142033"/>
                </a:solidFill>
              </a:rPr>
              <a:t>与 14 周计划的对应关系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6B58F4-1ECF-416F-8F19-C957E1A0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94B63"/>
                </a:solidFill>
              </a:defRPr>
            </a:pPr>
            <a:r>
              <a:rPr sz="1425" b="0">
                <a:solidFill>
                  <a:srgbClr val="394B63"/>
                </a:solidFill>
              </a:rPr>
              <a:t>当前汇报按“完成到第 5 周左右的设计内容”组织，同时说明少量提前推进内容。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C74CCD-FFED-40A8-B3F0-AF377A96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0972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4C7CF0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8CD59C-95B7-4887-87A7-83AF6128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9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45E5E6-B569-4901-90F9-FB706656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86025"/>
            <a:ext cx="1043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033"/>
                </a:solidFill>
              </a:defRPr>
            </a:pPr>
            <a:r>
              <a:rPr sz="1200" b="0">
                <a:solidFill>
                  <a:srgbClr val="142033"/>
                </a:solidFill>
              </a:rPr>
              <a:t>当前汇报严格按“前 5 周设计内容”组织，同时把已经启动的第 6 周准备工作单独标出来。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A8850F-5ECF-46E1-A62B-E766CC5B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4C7CF0"/>
          </a:solidFill>
          <a:ln xmlns:a="http://schemas.openxmlformats.org/drawingml/2006/main" w="10478">
            <a:solidFill>
              <a:srgbClr val="14203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096E7B-D89B-4AE7-8699-D75FA6B3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337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第 1 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F513CC-55B8-4087-A303-5EE7E79E8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3337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已完成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834FF4-1146-4A98-A5DE-2B80E6D9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2194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4C7CF0"/>
          </a:solidFill>
          <a:ln xmlns:a="http://schemas.openxmlformats.org/drawingml/2006/main" w="10478">
            <a:solidFill>
              <a:srgbClr val="14203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E458FD-28B0-4ABC-9DDE-DB5D4BFBF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337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第 2 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0A700B-9DBD-4519-93E2-F3D1BEB8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3337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已完成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ABB991-5484-4EA2-BC1B-C1270EE87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2194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4C7CF0"/>
          </a:solidFill>
          <a:ln xmlns:a="http://schemas.openxmlformats.org/drawingml/2006/main" w="10478">
            <a:solidFill>
              <a:srgbClr val="14203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E54C22-ECA2-4F59-ADED-D281BF7B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3337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第 3 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BBE847-A039-4CAD-A446-2A231F54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3337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已完成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4FB8DF-21FC-4091-98AB-78207B409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2194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4C7CF0"/>
          </a:solidFill>
          <a:ln xmlns:a="http://schemas.openxmlformats.org/drawingml/2006/main" w="10478">
            <a:solidFill>
              <a:srgbClr val="14203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96A7D5-92A9-4042-AF5D-489F37A3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3337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第 4 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3390CE-4219-4D0D-901F-D837229A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337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已完成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ED2BAF-2F4A-4521-9F66-DC577C6AB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194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4C7CF0"/>
          </a:solidFill>
          <a:ln xmlns:a="http://schemas.openxmlformats.org/drawingml/2006/main" w="10478">
            <a:solidFill>
              <a:srgbClr val="14203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E88D25-C2D6-4869-A1CB-0EC43503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3337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第 5 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6F5CA6-7AA9-41C6-AFC5-DF7E6E07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3337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已完成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05BC34-BA10-4737-A403-88DBA1F2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194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1B33C"/>
          </a:solidFill>
          <a:ln xmlns:a="http://schemas.openxmlformats.org/drawingml/2006/main" w="10478">
            <a:solidFill>
              <a:srgbClr val="14203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818018-DAB5-4B8B-838F-832EF87A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337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2033"/>
                </a:solidFill>
              </a:defRPr>
            </a:pPr>
            <a:r>
              <a:rPr sz="975" b="1">
                <a:solidFill>
                  <a:srgbClr val="142033"/>
                </a:solidFill>
              </a:rPr>
              <a:t>第 6 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9616A4-F3EC-47AC-9174-873882D3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3337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F4AA8"/>
                </a:solidFill>
              </a:defRPr>
            </a:pPr>
            <a:r>
              <a:rPr sz="825" b="0">
                <a:solidFill>
                  <a:srgbClr val="1F4AA8"/>
                </a:solidFill>
              </a:rPr>
              <a:t>已启动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1A6A1D-9F36-44A9-8580-E8BF638BA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2194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1B33C"/>
          </a:solidFill>
          <a:ln xmlns:a="http://schemas.openxmlformats.org/drawingml/2006/main" w="10478">
            <a:solidFill>
              <a:srgbClr val="14203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67CCEC-FC72-4A1C-B995-92B573C7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3337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2033"/>
                </a:solidFill>
              </a:defRPr>
            </a:pPr>
            <a:r>
              <a:rPr sz="975" b="1">
                <a:solidFill>
                  <a:srgbClr val="142033"/>
                </a:solidFill>
              </a:rPr>
              <a:t>第 7 周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C3A063-8563-4417-AA22-A3DA0D94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3337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F4AA8"/>
                </a:solidFill>
              </a:defRPr>
            </a:pPr>
            <a:r>
              <a:rPr sz="825" b="0">
                <a:solidFill>
                  <a:srgbClr val="1F4AA8"/>
                </a:solidFill>
              </a:rPr>
              <a:t>已启动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7E8AF9-B3FB-4812-9CC2-55AA5064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1B33C"/>
          </a:solidFill>
          <a:ln xmlns:a="http://schemas.openxmlformats.org/drawingml/2006/main" w="10478">
            <a:solidFill>
              <a:srgbClr val="14203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AD7A97-B66D-4D07-A65D-3C683DEBE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433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2033"/>
                </a:solidFill>
              </a:defRPr>
            </a:pPr>
            <a:r>
              <a:rPr sz="975" b="1">
                <a:solidFill>
                  <a:srgbClr val="142033"/>
                </a:solidFill>
              </a:rPr>
              <a:t>第 8 周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2B389D6-5173-403D-9200-502D173F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9433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F4AA8"/>
                </a:solidFill>
              </a:defRPr>
            </a:pPr>
            <a:r>
              <a:rPr sz="825" b="0">
                <a:solidFill>
                  <a:srgbClr val="1F4AA8"/>
                </a:solidFill>
              </a:rPr>
              <a:t>已启动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C2F3A9E-856B-40FC-80EC-7FEA62486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8290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4203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97337E7-36A5-400A-8200-98427100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433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2033"/>
                </a:solidFill>
              </a:defRPr>
            </a:pPr>
            <a:r>
              <a:rPr sz="975" b="1">
                <a:solidFill>
                  <a:srgbClr val="142033"/>
                </a:solidFill>
              </a:rPr>
              <a:t>第 9 周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C509741-B13C-47A9-8BE3-AD76CED4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9433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F4AA8"/>
                </a:solidFill>
              </a:defRPr>
            </a:pPr>
            <a:r>
              <a:rPr sz="825" b="0">
                <a:solidFill>
                  <a:srgbClr val="1F4AA8"/>
                </a:solidFill>
              </a:rPr>
              <a:t>后续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B460A18-5800-4A80-BEB1-F151A7E9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8290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4203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CDACE5A-1756-437C-9055-E6F0CCD16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9433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2033"/>
                </a:solidFill>
              </a:defRPr>
            </a:pPr>
            <a:r>
              <a:rPr sz="975" b="1">
                <a:solidFill>
                  <a:srgbClr val="142033"/>
                </a:solidFill>
              </a:rPr>
              <a:t>第 10 周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98165D9-B6C7-436B-AC86-97AC552E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9433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F4AA8"/>
                </a:solidFill>
              </a:defRPr>
            </a:pPr>
            <a:r>
              <a:rPr sz="825" b="0">
                <a:solidFill>
                  <a:srgbClr val="1F4AA8"/>
                </a:solidFill>
              </a:rPr>
              <a:t>后续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8281813-5D38-42DA-A663-9D886325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8290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4203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E8300C2-00D9-46EF-A469-233E91EB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9433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2033"/>
                </a:solidFill>
              </a:defRPr>
            </a:pPr>
            <a:r>
              <a:rPr sz="975" b="1">
                <a:solidFill>
                  <a:srgbClr val="142033"/>
                </a:solidFill>
              </a:rPr>
              <a:t>第 11 周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B23D302-F8D8-45CD-8940-3A52F2FC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433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F4AA8"/>
                </a:solidFill>
              </a:defRPr>
            </a:pPr>
            <a:r>
              <a:rPr sz="825" b="0">
                <a:solidFill>
                  <a:srgbClr val="1F4AA8"/>
                </a:solidFill>
              </a:rPr>
              <a:t>后续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E0206E4-D240-4CAB-A65A-395F5DBA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290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4203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4AF48ED-42F3-4477-861A-F84B5D76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9433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2033"/>
                </a:solidFill>
              </a:defRPr>
            </a:pPr>
            <a:r>
              <a:rPr sz="975" b="1">
                <a:solidFill>
                  <a:srgbClr val="142033"/>
                </a:solidFill>
              </a:rPr>
              <a:t>第 12 周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EB2B83C-7DB5-4457-BB49-24AF1DA6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433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F4AA8"/>
                </a:solidFill>
              </a:defRPr>
            </a:pPr>
            <a:r>
              <a:rPr sz="825" b="0">
                <a:solidFill>
                  <a:srgbClr val="1F4AA8"/>
                </a:solidFill>
              </a:rPr>
              <a:t>后续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74D0E77-229F-42DD-ABB7-8DB4AD60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290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4203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09B4563-243E-4B97-8160-6D5AE3F14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9433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2033"/>
                </a:solidFill>
              </a:defRPr>
            </a:pPr>
            <a:r>
              <a:rPr sz="975" b="1">
                <a:solidFill>
                  <a:srgbClr val="142033"/>
                </a:solidFill>
              </a:rPr>
              <a:t>第 13 周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CEE6E1C-88FE-42A6-95E7-00D4BD03C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9433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F4AA8"/>
                </a:solidFill>
              </a:defRPr>
            </a:pPr>
            <a:r>
              <a:rPr sz="825" b="0">
                <a:solidFill>
                  <a:srgbClr val="1F4AA8"/>
                </a:solidFill>
              </a:rPr>
              <a:t>后续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2AE1DD5-BC4A-4302-AB26-F665AC08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8290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42033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C2C27EF-FB3F-4D60-B391-8249F946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9433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2033"/>
                </a:solidFill>
              </a:defRPr>
            </a:pPr>
            <a:r>
              <a:rPr sz="975" b="1">
                <a:solidFill>
                  <a:srgbClr val="142033"/>
                </a:solidFill>
              </a:rPr>
              <a:t>第 14 周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8097C5B-7B78-424F-A900-38E278147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9433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F4AA8"/>
                </a:solidFill>
              </a:defRPr>
            </a:pPr>
            <a:r>
              <a:rPr sz="825" b="0">
                <a:solidFill>
                  <a:srgbClr val="1F4AA8"/>
                </a:solidFill>
              </a:rPr>
              <a:t>后续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17EF185-D6D0-4EBB-BC5A-0005B6B5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914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4C7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C67058E-A1B2-4053-8A36-8EE2FE55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6075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已完成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0A6EAED-94EB-476E-A0A6-2E993A16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819400"/>
            <a:ext cx="914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1B3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2A67EDD-B221-4FA0-8BBF-FDDE3620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886075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2033"/>
                </a:solidFill>
              </a:defRPr>
            </a:pPr>
            <a:r>
              <a:rPr sz="900" b="1">
                <a:solidFill>
                  <a:srgbClr val="142033"/>
                </a:solidFill>
              </a:rPr>
              <a:t>已启动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E3BD57E-27FF-409D-9AAD-949CA56C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19400"/>
            <a:ext cx="914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4F7FB">
              <a:alpha val="94902"/>
            </a:srgbClr>
          </a:solidFill>
          <a:ln xmlns:a="http://schemas.openxmlformats.org/drawingml/2006/main" w="0">
            <a:solidFill>
              <a:srgbClr val="14203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87CFB58-10C5-48AC-A71C-39D66226D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886075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AA8"/>
                </a:solidFill>
              </a:defRPr>
            </a:pPr>
            <a:r>
              <a:rPr sz="900" b="1">
                <a:solidFill>
                  <a:srgbClr val="1F4AA8"/>
                </a:solidFill>
              </a:rPr>
              <a:t>后续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50EA73B-030A-4F96-A3FA-4412BCDD5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57700"/>
            <a:ext cx="338455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F4F7FB">
              <a:alpha val="94902"/>
            </a:srgbClr>
          </a:solidFill>
          <a:ln xmlns:a="http://schemas.openxmlformats.org/drawingml/2006/main" w="11430">
            <a:solidFill>
              <a:srgbClr val="14203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84E04E7-588E-4AB1-96F7-6A2CF0D8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57700"/>
            <a:ext cx="762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079AEAC-FF98-4EEE-A9BD-6F25D854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86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7FB">
              <a:alpha val="94902"/>
            </a:srgbClr>
          </a:solidFill>
          <a:ln xmlns:a="http://schemas.openxmlformats.org/drawingml/2006/main" w="11430">
            <a:solidFill>
              <a:srgbClr val="14203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2D9F27E-91F7-45B6-8CF2-FA26753B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9625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2782DF0-A581-4E1E-B832-95FF3CA2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8863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782F0FB-AE52-4EC1-9684-87E3E328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196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2AC4B65-3987-450E-933D-83121E35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6672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4AA8"/>
                </a:solidFill>
              </a:defRPr>
            </a:pPr>
            <a:r>
              <a:rPr sz="1125" b="1">
                <a:solidFill>
                  <a:srgbClr val="1F4AA8"/>
                </a:solidFill>
              </a:rPr>
              <a:t>已完成 1-5 周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6E8144A-F1A2-4ECD-9DF3-496DD4AA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76850"/>
            <a:ext cx="29273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033"/>
                </a:solidFill>
              </a:defRPr>
            </a:pPr>
            <a:r>
              <a:rPr sz="1275" b="0">
                <a:solidFill>
                  <a:srgbClr val="142033"/>
                </a:solidFill>
              </a:rPr>
              <a:t>项目计划、需求调研、技术选型、数据库设计、界面设计已基本</a:t>
            </a:r>
          </a:p>
          <a:p xmlns:a="http://schemas.openxmlformats.org/drawingml/2006/main">
            <a:pPr algn="l">
              <a:defRPr sz="1275" b="0">
                <a:solidFill>
                  <a:srgbClr val="142033"/>
                </a:solidFill>
              </a:defRPr>
            </a:pPr>
            <a:r>
              <a:rPr sz="1275" b="0">
                <a:solidFill>
                  <a:srgbClr val="142033"/>
                </a:solidFill>
              </a:rPr>
              <a:t>覆盖。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BAB5903-77C5-49F5-A44E-C5F6A36C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457700"/>
            <a:ext cx="338455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F4F7FB">
              <a:alpha val="94902"/>
            </a:srgbClr>
          </a:solidFill>
          <a:ln xmlns:a="http://schemas.openxmlformats.org/drawingml/2006/main" w="11430">
            <a:solidFill>
              <a:srgbClr val="14203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4E9D1C5-5DBE-4D81-91C0-341C8464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457700"/>
            <a:ext cx="762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8432597-A455-4592-8AE3-4BF85D83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686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7FB">
              <a:alpha val="94902"/>
            </a:srgbClr>
          </a:solidFill>
          <a:ln xmlns:a="http://schemas.openxmlformats.org/drawingml/2006/main" w="11430">
            <a:solidFill>
              <a:srgbClr val="14203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051143B-148D-4C43-968D-4DA21025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857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7CF0"/>
          </a:solidFill>
          <a:ln xmlns:a="http://schemas.openxmlformats.org/drawingml/2006/main" w="9525">
            <a:solidFill>
              <a:srgbClr val="142033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BC50E7D-5589-4A3A-BE13-1792BA4E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943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7CF0"/>
          </a:solidFill>
          <a:ln xmlns:a="http://schemas.openxmlformats.org/drawingml/2006/main" w="9525">
            <a:solidFill>
              <a:srgbClr val="142033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FF1145C-76D0-42ED-83D7-DB46BAD9C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9244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13B1B37-1E07-4BC3-9D86-38DC6AB5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6672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4AA8"/>
                </a:solidFill>
              </a:defRPr>
            </a:pPr>
            <a:r>
              <a:rPr sz="1125" b="1">
                <a:solidFill>
                  <a:srgbClr val="1F4AA8"/>
                </a:solidFill>
              </a:rPr>
              <a:t>已提前启动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1DD7C23-9ECC-4B85-9B04-1EF62E05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5276850"/>
            <a:ext cx="29273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033"/>
                </a:solidFill>
              </a:defRPr>
            </a:pPr>
            <a:r>
              <a:rPr sz="1275" b="0">
                <a:solidFill>
                  <a:srgbClr val="142033"/>
                </a:solidFill>
              </a:rPr>
              <a:t>核心服务层、通信调度与运行时原型已开始搭建，为功能设计做</a:t>
            </a:r>
          </a:p>
          <a:p xmlns:a="http://schemas.openxmlformats.org/drawingml/2006/main">
            <a:pPr algn="l">
              <a:defRPr sz="1275" b="0">
                <a:solidFill>
                  <a:srgbClr val="142033"/>
                </a:solidFill>
              </a:defRPr>
            </a:pPr>
            <a:r>
              <a:rPr sz="1275" b="0">
                <a:solidFill>
                  <a:srgbClr val="142033"/>
                </a:solidFill>
              </a:rPr>
              <a:t>准备。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7C2D109-93D8-401E-B8AE-FD89B3E9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457700"/>
            <a:ext cx="338455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F4F7FB">
              <a:alpha val="94902"/>
            </a:srgbClr>
          </a:solidFill>
          <a:ln xmlns:a="http://schemas.openxmlformats.org/drawingml/2006/main" w="11430">
            <a:solidFill>
              <a:srgbClr val="142033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C7F8E00-37DF-487F-AB4A-9E6FFD423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457700"/>
            <a:ext cx="762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8A63E00-A042-4575-8D63-C354E6E1D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686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7FB">
              <a:alpha val="94902"/>
            </a:srgbClr>
          </a:solidFill>
          <a:ln xmlns:a="http://schemas.openxmlformats.org/drawingml/2006/main" w="11430">
            <a:solidFill>
              <a:srgbClr val="142033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5B9EFD5-0BF7-4A99-A9DB-5D3CFE82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8291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7CF0"/>
          </a:solidFill>
          <a:ln xmlns:a="http://schemas.openxmlformats.org/drawingml/2006/main" w="9525">
            <a:solidFill>
              <a:srgbClr val="142033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E60B233-2F8B-420B-8596-13A5F6AA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9149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B33C"/>
          </a:solidFill>
          <a:ln xmlns:a="http://schemas.openxmlformats.org/drawingml/2006/main" w="9525">
            <a:solidFill>
              <a:srgbClr val="142033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ACE477C-5284-4FE2-8901-F8155163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50006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6B4F"/>
          </a:solidFill>
          <a:ln xmlns:a="http://schemas.openxmlformats.org/drawingml/2006/main" w="9525">
            <a:solidFill>
              <a:srgbClr val="142033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34BDA15-9C69-4C18-BF52-3D40B76B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6672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4AA8"/>
                </a:solidFill>
              </a:defRPr>
            </a:pPr>
            <a:r>
              <a:rPr sz="1125" b="1">
                <a:solidFill>
                  <a:srgbClr val="1F4AA8"/>
                </a:solidFill>
              </a:rPr>
              <a:t>后续聚焦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71CF646-B193-4393-A2C6-065EFF01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5276850"/>
            <a:ext cx="29273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033"/>
                </a:solidFill>
              </a:defRPr>
            </a:pPr>
            <a:r>
              <a:rPr sz="1275" b="0">
                <a:solidFill>
                  <a:srgbClr val="142033"/>
                </a:solidFill>
              </a:rPr>
              <a:t>接下来进入功能深化、联调测试、性能优化与论文材料整理阶段</a:t>
            </a:r>
          </a:p>
          <a:p xmlns:a="http://schemas.openxmlformats.org/drawingml/2006/main">
            <a:pPr algn="l">
              <a:defRPr sz="1275" b="0">
                <a:solidFill>
                  <a:srgbClr val="142033"/>
                </a:solidFill>
              </a:defRPr>
            </a:pPr>
            <a:r>
              <a:rPr sz="1275" b="0">
                <a:solidFill>
                  <a:srgbClr val="142033"/>
                </a:solidFill>
              </a:rPr>
              <a:t>。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B9F92BF-F4FE-448B-92AE-A5CE902A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7B92"/>
                </a:solidFill>
              </a:defRPr>
            </a:pPr>
            <a:r>
              <a:rPr sz="750" b="0">
                <a:solidFill>
                  <a:srgbClr val="6A7B92"/>
                </a:solidFill>
              </a:rPr>
              <a:t>内容依据开题报告与本地代码整理，当前汇报聚焦前 5 周设计进度，正文均为可编辑对象。</a:t>
            </a:r>
          </a:p>
        </p:txBody>
      </p:sp>
    </p:spTree>
    <p:extLst>
      <p:ext uri="{BB962C8B-B14F-4D97-AF65-F5344CB8AC3E}">
        <p14:creationId xmlns:p14="http://schemas.microsoft.com/office/powerpoint/2010/main" val="8033754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9171499-3E71-4607-ADE6-D95D0937701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666038ef4a46e4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652C4A-E810-44FB-857B-64963F27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FBB760-7C75-4BD8-9609-5C180292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4AA8"/>
                </a:solidFill>
              </a:defRPr>
            </a:pPr>
            <a:r>
              <a:rPr sz="975" b="1">
                <a:solidFill>
                  <a:srgbClr val="1F4AA8"/>
                </a:solidFill>
              </a:rPr>
              <a:t>06 / 后续工作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26E2D8-D5E2-4FC0-A6C0-F474F89D2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F4AA8"/>
                </a:solidFill>
              </a:defRPr>
            </a:pPr>
            <a:r>
              <a:rPr sz="975" b="1">
                <a:solidFill>
                  <a:srgbClr val="1F4AA8"/>
                </a:solidFill>
              </a:rPr>
              <a:t>07 / 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6EFEE9-2646-4000-A7B1-B47EFA73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0C73E6-F5F7-4110-81D5-2B8979F2D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7CF0"/>
          </a:solidFill>
          <a:ln xmlns:a="http://schemas.openxmlformats.org/drawingml/2006/main" w="19050">
            <a:solidFill>
              <a:srgbClr val="14203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13D026-982F-4D7B-95C9-676E43A54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033"/>
                </a:solidFill>
              </a:defRPr>
            </a:pPr>
            <a:r>
              <a:rPr sz="3000" b="1">
                <a:solidFill>
                  <a:srgbClr val="142033"/>
                </a:solidFill>
              </a:rPr>
              <a:t>后续待开展工作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CCC3DE-BDA0-4AA4-A73F-2C2DEE77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94B63"/>
                </a:solidFill>
              </a:defRPr>
            </a:pPr>
            <a:r>
              <a:rPr sz="1425" b="0">
                <a:solidFill>
                  <a:srgbClr val="394B63"/>
                </a:solidFill>
              </a:rPr>
              <a:t>后续推进仍按开题报告后半程展开，不夸大当前已完成范围。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28C9FF-A205-4F42-B75C-DC3D8BD0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972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4C7CF0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36C62D-54AF-434C-A86E-F51E844D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9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F3EC31-71DD-49C4-8239-EDB8C9FF4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95625"/>
            <a:ext cx="1043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033"/>
                </a:solidFill>
              </a:defRPr>
            </a:pPr>
            <a:r>
              <a:rPr sz="1200" b="0">
                <a:solidFill>
                  <a:srgbClr val="142033"/>
                </a:solidFill>
              </a:rPr>
              <a:t>后续推进按照开题报告后半程展开，重点从“可运行原型”转向“稳定交付与论文答辩”。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0C3033-E1D9-4BB3-8582-1DA4225F3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33845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4F7FB">
              <a:alpha val="94902"/>
            </a:srgbClr>
          </a:solidFill>
          <a:ln xmlns:a="http://schemas.openxmlformats.org/drawingml/2006/main" w="11430">
            <a:solidFill>
              <a:srgbClr val="14203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8872C7-04B9-4042-8EA5-A6A3BCAF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DCF7BC-45E5-4598-A49A-FF49978A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62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7FB">
              <a:alpha val="94902"/>
            </a:srgbClr>
          </a:solidFill>
          <a:ln xmlns:a="http://schemas.openxmlformats.org/drawingml/2006/main" w="11430">
            <a:solidFill>
              <a:srgbClr val="14203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86009B-F4EC-413C-9FF3-D69ADA61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386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8542F1-746A-4AC7-87B3-BA45E0AB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1624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B66087-6546-4A29-AEA2-CF49B9A9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957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04B544-1355-4A5D-BFAA-5F28922E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43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4AA8"/>
                </a:solidFill>
              </a:defRPr>
            </a:pPr>
            <a:r>
              <a:rPr sz="1125" b="1">
                <a:solidFill>
                  <a:srgbClr val="1F4AA8"/>
                </a:solidFill>
              </a:rPr>
              <a:t>功能深化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A446A9-16FE-49D2-8EE9-A27022003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52950"/>
            <a:ext cx="29273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033"/>
                </a:solidFill>
              </a:defRPr>
            </a:pPr>
            <a:r>
              <a:rPr sz="1275" b="0">
                <a:solidFill>
                  <a:srgbClr val="142033"/>
                </a:solidFill>
              </a:rPr>
              <a:t>继续完善分组控制、情景模式、定时调度与通信联调细节。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5AC11A-D24F-4F73-A562-1535FCE8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33800"/>
            <a:ext cx="33845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4F7FB">
              <a:alpha val="94902"/>
            </a:srgbClr>
          </a:solidFill>
          <a:ln xmlns:a="http://schemas.openxmlformats.org/drawingml/2006/main" w="11430">
            <a:solidFill>
              <a:srgbClr val="14203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17CB15-EDA7-409D-BE6A-D03DE480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338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209899-ADE4-49FC-BC77-E9850F7D9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962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7FB">
              <a:alpha val="94902"/>
            </a:srgbClr>
          </a:solidFill>
          <a:ln xmlns:a="http://schemas.openxmlformats.org/drawingml/2006/main" w="11430">
            <a:solidFill>
              <a:srgbClr val="14203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A23095-4548-45FF-91E4-6CE77AC39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133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7CF0"/>
          </a:solidFill>
          <a:ln xmlns:a="http://schemas.openxmlformats.org/drawingml/2006/main" w="9525">
            <a:solidFill>
              <a:srgbClr val="14203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FF5B27-9CFC-4237-9A6B-DEB520CE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219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7CF0"/>
          </a:solidFill>
          <a:ln xmlns:a="http://schemas.openxmlformats.org/drawingml/2006/main" w="9525">
            <a:solidFill>
              <a:srgbClr val="14203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C94CA4-FAC2-4B68-95A6-414F9828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2005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FBE616-BBE8-4D53-84D2-B885EF43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943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4AA8"/>
                </a:solidFill>
              </a:defRPr>
            </a:pPr>
            <a:r>
              <a:rPr sz="1125" b="1">
                <a:solidFill>
                  <a:srgbClr val="1F4AA8"/>
                </a:solidFill>
              </a:rPr>
              <a:t>测试优化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38ABEA-EE65-422B-A6A8-0F78EC02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552950"/>
            <a:ext cx="29273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033"/>
                </a:solidFill>
              </a:defRPr>
            </a:pPr>
            <a:r>
              <a:rPr sz="1275" b="0">
                <a:solidFill>
                  <a:srgbClr val="142033"/>
                </a:solidFill>
              </a:rPr>
              <a:t>补充性能测试、安全性设计、异常处理和运行稳定性验证。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E094B3-D4B6-4099-A811-BB170D32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33800"/>
            <a:ext cx="33845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4F7FB">
              <a:alpha val="94902"/>
            </a:srgbClr>
          </a:solidFill>
          <a:ln xmlns:a="http://schemas.openxmlformats.org/drawingml/2006/main" w="11430">
            <a:solidFill>
              <a:srgbClr val="14203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680A3A-DD0A-4DAF-8264-409B5F17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338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C716C3-0993-4F5D-8DFB-2738C680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962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7FB">
              <a:alpha val="94902"/>
            </a:srgbClr>
          </a:solidFill>
          <a:ln xmlns:a="http://schemas.openxmlformats.org/drawingml/2006/main" w="11430">
            <a:solidFill>
              <a:srgbClr val="14203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9EE6DB-5610-4CE0-8D41-AA3F43FD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1052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7CF0"/>
          </a:solidFill>
          <a:ln xmlns:a="http://schemas.openxmlformats.org/drawingml/2006/main" w="9525">
            <a:solidFill>
              <a:srgbClr val="14203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6801CD-9F04-49C8-89B9-4901AA4E3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1910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B33C"/>
          </a:solidFill>
          <a:ln xmlns:a="http://schemas.openxmlformats.org/drawingml/2006/main" w="9525">
            <a:solidFill>
              <a:srgbClr val="14203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5EF400-4048-40D8-A44F-EB13BAA61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2767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6B4F"/>
          </a:solidFill>
          <a:ln xmlns:a="http://schemas.openxmlformats.org/drawingml/2006/main" w="9525">
            <a:solidFill>
              <a:srgbClr val="14203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BEFE6DF-FCDD-41C1-A166-B91A221B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943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4AA8"/>
                </a:solidFill>
              </a:defRPr>
            </a:pPr>
            <a:r>
              <a:rPr sz="1125" b="1">
                <a:solidFill>
                  <a:srgbClr val="1F4AA8"/>
                </a:solidFill>
              </a:rPr>
              <a:t>论文答辩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84CFA5-AB5A-4495-912F-249144A3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552950"/>
            <a:ext cx="29273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033"/>
                </a:solidFill>
              </a:defRPr>
            </a:pPr>
            <a:r>
              <a:rPr sz="1275" b="0">
                <a:solidFill>
                  <a:srgbClr val="142033"/>
                </a:solidFill>
              </a:rPr>
              <a:t>同步撰写论文与演示材料，后续完成定稿、归档和答辩准备。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23904B8-8164-4825-B9FB-9863E69E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7B92"/>
                </a:solidFill>
              </a:defRPr>
            </a:pPr>
            <a:r>
              <a:rPr sz="750" b="0">
                <a:solidFill>
                  <a:srgbClr val="6A7B92"/>
                </a:solidFill>
              </a:rPr>
              <a:t>内容依据开题报告与本地代码整理，当前汇报聚焦前 5 周设计进度，正文均为可编辑对象。</a:t>
            </a:r>
          </a:p>
        </p:txBody>
      </p:sp>
    </p:spTree>
    <p:extLst>
      <p:ext uri="{BB962C8B-B14F-4D97-AF65-F5344CB8AC3E}">
        <p14:creationId xmlns:p14="http://schemas.microsoft.com/office/powerpoint/2010/main" val="10334255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2026-04-20T05:54:32.3880000Z</dcterms:created>
  <dcterms:modified xsi:type="dcterms:W3CDTF">2026-04-20T05:54:32.3880000Z</dcterms:modified>
</coreProperties>
</file>