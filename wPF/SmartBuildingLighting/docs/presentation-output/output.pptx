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ccb692dc684685" /><Relationship Type="http://schemas.openxmlformats.org/officeDocument/2006/relationships/extended-properties" Target="/docProps/app.xml" Id="R40ce7c61f2f2488b" /><Relationship Type="http://schemas.openxmlformats.org/officeDocument/2006/relationships/officeDocument" Target="/ppt/presentation.xml" Id="R1b885236ada24a6d" /></Relationships>
</file>

<file path=ppt/presentation.xml><?xml version="1.0" encoding="utf-8"?>
<p:presentation xmlns:p="http://schemas.openxmlformats.org/presentationml/2006/main">
  <p:sldMasterIdLst>
    <p:sldMasterId xmlns:r="http://schemas.openxmlformats.org/officeDocument/2006/relationships" id="2147483648" r:id="R5e6a3e0cb62446d4"/>
  </p:sldMasterIdLst>
  <p:notesMasterIdLst>
    <p:notesMasterId xmlns:r="http://schemas.openxmlformats.org/officeDocument/2006/relationships" r:id="Rdbdc358449244f10"/>
  </p:notesMasterIdLst>
  <p:sldIdLst>
    <p:sldId xmlns:r="http://schemas.openxmlformats.org/officeDocument/2006/relationships" id="256" r:id="R6b406d617f344800"/>
    <p:sldId xmlns:r="http://schemas.openxmlformats.org/officeDocument/2006/relationships" id="257" r:id="R039bfc7738e2460e"/>
    <p:sldId xmlns:r="http://schemas.openxmlformats.org/officeDocument/2006/relationships" id="258" r:id="R243e9c44633d4db5"/>
    <p:sldId xmlns:r="http://schemas.openxmlformats.org/officeDocument/2006/relationships" id="259" r:id="Rd13be77686c74dec"/>
    <p:sldId xmlns:r="http://schemas.openxmlformats.org/officeDocument/2006/relationships" id="260" r:id="Rccce722ed9054d77"/>
    <p:sldId xmlns:r="http://schemas.openxmlformats.org/officeDocument/2006/relationships" id="261" r:id="R918f16df50eb4e5f"/>
    <p:sldId xmlns:r="http://schemas.openxmlformats.org/officeDocument/2006/relationships" id="262" r:id="Rbfa3e67ec98740f2"/>
    <p:sldId xmlns:r="http://schemas.openxmlformats.org/officeDocument/2006/relationships" id="263" r:id="R0ab41238d5e3426b"/>
    <p:sldId xmlns:r="http://schemas.openxmlformats.org/officeDocument/2006/relationships" id="264" r:id="R034c74728a074fa0"/>
    <p:sldId xmlns:r="http://schemas.openxmlformats.org/officeDocument/2006/relationships" id="265" r:id="R918f7aecc514479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e6a3e0cb62446d4" /><Relationship Type="http://schemas.openxmlformats.org/officeDocument/2006/relationships/theme" Target="/ppt/theme/theme1.xml" Id="Rd8af7df9f2904e34" /><Relationship Type="http://schemas.openxmlformats.org/officeDocument/2006/relationships/notesMaster" Target="/ppt/notesMasters/notesMaster1.xml" Id="Rdbdc358449244f10" /><Relationship Type="http://schemas.openxmlformats.org/officeDocument/2006/relationships/presProps" Target="/ppt/presProps.xml" Id="R53fa83ef16d84ba1" /><Relationship Type="http://schemas.openxmlformats.org/officeDocument/2006/relationships/viewProps" Target="/ppt/viewProps.xml" Id="R3b7da3a5e754442f" /><Relationship Type="http://schemas.openxmlformats.org/officeDocument/2006/relationships/tableStyles" Target="/ppt/tableStyles.xml" Id="R7d80679fd5bc4ff2" /><Relationship Type="http://schemas.openxmlformats.org/officeDocument/2006/relationships/slide" Target="/ppt/slides/slide1.xml" Id="R6b406d617f344800" /><Relationship Type="http://schemas.openxmlformats.org/officeDocument/2006/relationships/slide" Target="/ppt/slides/slide2.xml" Id="R039bfc7738e2460e" /><Relationship Type="http://schemas.openxmlformats.org/officeDocument/2006/relationships/slide" Target="/ppt/slides/slide3.xml" Id="R243e9c44633d4db5" /><Relationship Type="http://schemas.openxmlformats.org/officeDocument/2006/relationships/slide" Target="/ppt/slides/slide4.xml" Id="Rd13be77686c74dec" /><Relationship Type="http://schemas.openxmlformats.org/officeDocument/2006/relationships/slide" Target="/ppt/slides/slide5.xml" Id="Rccce722ed9054d77" /><Relationship Type="http://schemas.openxmlformats.org/officeDocument/2006/relationships/slide" Target="/ppt/slides/slide6.xml" Id="R918f16df50eb4e5f" /><Relationship Type="http://schemas.openxmlformats.org/officeDocument/2006/relationships/slide" Target="/ppt/slides/slide7.xml" Id="Rbfa3e67ec98740f2" /><Relationship Type="http://schemas.openxmlformats.org/officeDocument/2006/relationships/slide" Target="/ppt/slides/slide8.xml" Id="R0ab41238d5e3426b" /><Relationship Type="http://schemas.openxmlformats.org/officeDocument/2006/relationships/slide" Target="/ppt/slides/slide9.xml" Id="R034c74728a074fa0" /><Relationship Type="http://schemas.openxmlformats.org/officeDocument/2006/relationships/slide" Target="/ppt/slides/slide10.xml" Id="R918f7aecc51447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8d6f77e0fdfa4a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3a2bae8e0d4fdc" /><Relationship Type="http://schemas.openxmlformats.org/officeDocument/2006/relationships/notesMaster" Target="/ppt/notesMasters/notesMaster1.xml" Id="R80250d8a917f4c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551ae0eaad45f0" /><Relationship Type="http://schemas.openxmlformats.org/officeDocument/2006/relationships/notesMaster" Target="/ppt/notesMasters/notesMaster1.xml" Id="R5680410801bd4c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d8e0b17290442d" /><Relationship Type="http://schemas.openxmlformats.org/officeDocument/2006/relationships/notesMaster" Target="/ppt/notesMasters/notesMaster1.xml" Id="Rbe91078a1a7743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8711946e1640ec" /><Relationship Type="http://schemas.openxmlformats.org/officeDocument/2006/relationships/notesMaster" Target="/ppt/notesMasters/notesMaster1.xml" Id="R806abe47553a4b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d06e69574f4ba3" /><Relationship Type="http://schemas.openxmlformats.org/officeDocument/2006/relationships/notesMaster" Target="/ppt/notesMasters/notesMaster1.xml" Id="Rd6b4c34c9fd540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c2af3fc9e14d9d" /><Relationship Type="http://schemas.openxmlformats.org/officeDocument/2006/relationships/notesMaster" Target="/ppt/notesMasters/notesMaster1.xml" Id="R65772609570045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bcb15161bc4bc7" /><Relationship Type="http://schemas.openxmlformats.org/officeDocument/2006/relationships/notesMaster" Target="/ppt/notesMasters/notesMaster1.xml" Id="Rf0751476a7be47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8bc12233774079" /><Relationship Type="http://schemas.openxmlformats.org/officeDocument/2006/relationships/notesMaster" Target="/ppt/notesMasters/notesMaster1.xml" Id="Ra07ddb139de147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0cab1881ac46e0" /><Relationship Type="http://schemas.openxmlformats.org/officeDocument/2006/relationships/notesMaster" Target="/ppt/notesMasters/notesMaster1.xml" Id="R74594310e9e843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bd48606a2747d9" /><Relationship Type="http://schemas.openxmlformats.org/officeDocument/2006/relationships/notesMaster" Target="/ppt/notesMasters/notesMaster1.xml" Id="R08746fb5704145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封面页说明课题名称、定位与整体技术路线。</a:t>
            </a:r>
          </a:p>
          <a:p xmlns:a="http://schemas.openxmlformats.org/drawingml/2006/main">
            <a:r>
              <a:t/>
            </a:r>
          </a:p>
          <a:p xmlns:a="http://schemas.openxmlformats.org/drawingml/2006/main">
            <a:r>
              <a:t>[Sources]</a:t>
            </a:r>
          </a:p>
          <a:p xmlns:a="http://schemas.openxmlformats.org/drawingml/2006/main">
            <a:r>
              <a:t>- 来源: 课题任务书、开题报告、SmartBuildingLighting 项目代码与当前实现结果。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说明为什么要做这个系统，以及该系统在智慧楼宇场景中的实际意义。</a:t>
            </a:r>
          </a:p>
          <a:p xmlns:a="http://schemas.openxmlformats.org/drawingml/2006/main">
            <a:r>
              <a:t/>
            </a:r>
          </a:p>
          <a:p xmlns:a="http://schemas.openxmlformats.org/drawingml/2006/main">
            <a:r>
              <a:t>[Sources]</a:t>
            </a:r>
          </a:p>
          <a:p xmlns:a="http://schemas.openxmlformats.org/drawingml/2006/main">
            <a:r>
              <a:t>- 来源: 课题任务书、开题报告、SmartBuildingLighting 项目代码与当前实现结果。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重点强调实时监控、分组控制、情景模式、定时调度和扩展能力。</a:t>
            </a:r>
          </a:p>
          <a:p xmlns:a="http://schemas.openxmlformats.org/drawingml/2006/main">
            <a:r>
              <a:t/>
            </a:r>
          </a:p>
          <a:p xmlns:a="http://schemas.openxmlformats.org/drawingml/2006/main">
            <a:r>
              <a:t>[Sources]</a:t>
            </a:r>
          </a:p>
          <a:p xmlns:a="http://schemas.openxmlformats.org/drawingml/2006/main">
            <a:r>
              <a:t>- 来源: 课题任务书、开题报告、SmartBuildingLighting 项目代码与当前实现结果。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可结合 FigJam 架构图进一步说明层级关系与运行时协作方式。</a:t>
            </a:r>
          </a:p>
          <a:p xmlns:a="http://schemas.openxmlformats.org/drawingml/2006/main">
            <a:r>
              <a:t/>
            </a:r>
          </a:p>
          <a:p xmlns:a="http://schemas.openxmlformats.org/drawingml/2006/main">
            <a:r>
              <a:t>[Sources]</a:t>
            </a:r>
          </a:p>
          <a:p xmlns:a="http://schemas.openxmlformats.org/drawingml/2006/main">
            <a:r>
              <a:t>- 来源: 课题任务书、开题报告、SmartBuildingLighting 项目代码与当前实现结果。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突出新增通信配置与调度执行记录两个实体，说明其对演示闭环的重要性。</a:t>
            </a:r>
          </a:p>
          <a:p xmlns:a="http://schemas.openxmlformats.org/drawingml/2006/main">
            <a:r>
              <a:t/>
            </a:r>
          </a:p>
          <a:p xmlns:a="http://schemas.openxmlformats.org/drawingml/2006/main">
            <a:r>
              <a:t>[Sources]</a:t>
            </a:r>
          </a:p>
          <a:p xmlns:a="http://schemas.openxmlformats.org/drawingml/2006/main">
            <a:r>
              <a:t>- 来源: 课题任务书、开题报告、SmartBuildingLighting 项目代码与当前实现结果。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说明 2D 更适合定位区域，3D 更适合整体展示楼层态势，两者形成互补。</a:t>
            </a:r>
          </a:p>
          <a:p xmlns:a="http://schemas.openxmlformats.org/drawingml/2006/main">
            <a:r>
              <a:t/>
            </a:r>
          </a:p>
          <a:p xmlns:a="http://schemas.openxmlformats.org/drawingml/2006/main">
            <a:r>
              <a:t>[Sources]</a:t>
            </a:r>
          </a:p>
          <a:p xmlns:a="http://schemas.openxmlformats.org/drawingml/2006/main">
            <a:r>
              <a:t>- 来源: 课题任务书、开题报告、SmartBuildingLighting 项目代码与当前实现结果。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这是系统控制闭环的核心页，适合答辩时配合界面录屏讲解。</a:t>
            </a:r>
          </a:p>
          <a:p xmlns:a="http://schemas.openxmlformats.org/drawingml/2006/main">
            <a:r>
              <a:t/>
            </a:r>
          </a:p>
          <a:p xmlns:a="http://schemas.openxmlformats.org/drawingml/2006/main">
            <a:r>
              <a:t>[Sources]</a:t>
            </a:r>
          </a:p>
          <a:p xmlns:a="http://schemas.openxmlformats.org/drawingml/2006/main">
            <a:r>
              <a:t>- 来源: 课题任务书、开题报告、SmartBuildingLighting 项目代码与当前实现结果。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强调系统具备从控制到追踪再到分析的完整数据链条。</a:t>
            </a:r>
          </a:p>
          <a:p xmlns:a="http://schemas.openxmlformats.org/drawingml/2006/main">
            <a:r>
              <a:t/>
            </a:r>
          </a:p>
          <a:p xmlns:a="http://schemas.openxmlformats.org/drawingml/2006/main">
            <a:r>
              <a:t>[Sources]</a:t>
            </a:r>
          </a:p>
          <a:p xmlns:a="http://schemas.openxmlformats.org/drawingml/2006/main">
            <a:r>
              <a:t>- 来源: 课题任务书、开题报告、SmartBuildingLighting 项目代码与当前实现结果。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如果现场被问到工程性问题，这一页是主要回答支点。</a:t>
            </a:r>
          </a:p>
          <a:p xmlns:a="http://schemas.openxmlformats.org/drawingml/2006/main">
            <a:r>
              <a:t/>
            </a:r>
          </a:p>
          <a:p xmlns:a="http://schemas.openxmlformats.org/drawingml/2006/main">
            <a:r>
              <a:t>[Sources]</a:t>
            </a:r>
          </a:p>
          <a:p xmlns:a="http://schemas.openxmlformats.org/drawingml/2006/main">
            <a:r>
              <a:t>- 来源: 课题任务书、开题报告、SmartBuildingLighting 项目代码与当前实现结果。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最后归纳系统成果，并给出具有延展性的后续方向。</a:t>
            </a:r>
          </a:p>
          <a:p xmlns:a="http://schemas.openxmlformats.org/drawingml/2006/main">
            <a:r>
              <a:t/>
            </a:r>
          </a:p>
          <a:p xmlns:a="http://schemas.openxmlformats.org/drawingml/2006/main">
            <a:r>
              <a:t>[Sources]</a:t>
            </a:r>
          </a:p>
          <a:p xmlns:a="http://schemas.openxmlformats.org/drawingml/2006/main">
            <a:r>
              <a:t>- 来源: 课题任务书、开题报告、SmartBuildingLighting 项目代码与当前实现结果。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70c1c83ce247ac"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AAAE0551-D968-470D-88E0-324775233740}"/>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BBA4F3BE-7DC7-45E5-9915-3FC13D073232}"/>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33D31190-284D-4737-99AA-B366BDBF00A1}"/>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4872C9D3-9A66-4016-BA06-F99A14012A96}"/>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260678D0-8F19-458D-916B-46DD29A5E403}"/>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4b9e1b6545074b17" /><Relationship Type="http://schemas.openxmlformats.org/officeDocument/2006/relationships/slideLayout" Target="/ppt/slideLayouts/slideLayout2.xml" Id="R0338dbaebefb4d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DF3E34CB-FEFA-43AB-8863-D0AD42974C75}"/>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38dbaebefb4d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bc9289800ae54bdb" /><Relationship Type="http://schemas.openxmlformats.org/officeDocument/2006/relationships/image" Target="/ppt/media/image.png" Id="Re45b889c512b4b8e" /><Relationship Type="http://schemas.openxmlformats.org/officeDocument/2006/relationships/notesSlide" Target="/ppt/notesSlides/notesSlide1.xml" Id="R4c023a41623047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8d72df1663f40a5" /><Relationship Type="http://schemas.openxmlformats.org/officeDocument/2006/relationships/image" Target="/ppt/media/image2.png" Id="Rbbb01be9c4a24cbe" /><Relationship Type="http://schemas.openxmlformats.org/officeDocument/2006/relationships/notesSlide" Target="/ppt/notesSlides/notesSlide2.xml" Id="R958531c750b74f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768eda796f14e49" /><Relationship Type="http://schemas.openxmlformats.org/officeDocument/2006/relationships/image" Target="/ppt/media/image3.png" Id="Raf8c9d9e4b734f20" /><Relationship Type="http://schemas.openxmlformats.org/officeDocument/2006/relationships/notesSlide" Target="/ppt/notesSlides/notesSlide3.xml" Id="R8677e3b7f45544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fcf1455bfeb436c" /><Relationship Type="http://schemas.openxmlformats.org/officeDocument/2006/relationships/image" Target="/ppt/media/image4.png" Id="R6e632c5412914351" /><Relationship Type="http://schemas.openxmlformats.org/officeDocument/2006/relationships/notesSlide" Target="/ppt/notesSlides/notesSlide4.xml" Id="Ra090da38674940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846d8b3a1e04de0" /><Relationship Type="http://schemas.openxmlformats.org/officeDocument/2006/relationships/image" Target="/ppt/media/image5.png" Id="R1f4fee206d854356" /><Relationship Type="http://schemas.openxmlformats.org/officeDocument/2006/relationships/notesSlide" Target="/ppt/notesSlides/notesSlide5.xml" Id="R52d533073fb144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ec79537b8fc488f" /><Relationship Type="http://schemas.openxmlformats.org/officeDocument/2006/relationships/image" Target="/ppt/media/image6.png" Id="Rc7485b3b1a5a4469" /><Relationship Type="http://schemas.openxmlformats.org/officeDocument/2006/relationships/notesSlide" Target="/ppt/notesSlides/notesSlide6.xml" Id="R080f6e4529024f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256687ba9204935" /><Relationship Type="http://schemas.openxmlformats.org/officeDocument/2006/relationships/image" Target="/ppt/media/image7.png" Id="R5e6b1484bb83472b" /><Relationship Type="http://schemas.openxmlformats.org/officeDocument/2006/relationships/notesSlide" Target="/ppt/notesSlides/notesSlide7.xml" Id="Rc5f0bb6488904d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c4b34d4865644db" /><Relationship Type="http://schemas.openxmlformats.org/officeDocument/2006/relationships/image" Target="/ppt/media/image8.png" Id="Rf90b1a5601ca4c8e" /><Relationship Type="http://schemas.openxmlformats.org/officeDocument/2006/relationships/notesSlide" Target="/ppt/notesSlides/notesSlide8.xml" Id="R99b902a0f6894d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5f5e08cc4c24256" /><Relationship Type="http://schemas.openxmlformats.org/officeDocument/2006/relationships/image" Target="/ppt/media/image9.png" Id="R4775cd21089e4416" /><Relationship Type="http://schemas.openxmlformats.org/officeDocument/2006/relationships/notesSlide" Target="/ppt/notesSlides/notesSlide9.xml" Id="R02993551a1fd4f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a32f81b258342a9" /><Relationship Type="http://schemas.openxmlformats.org/officeDocument/2006/relationships/image" Target="/ppt/media/image10.png" Id="R83ef0dbc0e5b467a" /><Relationship Type="http://schemas.openxmlformats.org/officeDocument/2006/relationships/notesSlide" Target="/ppt/notesSlides/notesSlide10.xml" Id="R785dd796daa7421f" /></Relationships>
</file>

<file path=ppt/slides/slide1.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60678D0-8F19-458D-916B-46DD29A5E40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45b889c512b4b8e"/>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239D8B4-90CF-4D17-B2F7-9040397573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80000"/>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AA50EB7-4E2D-4680-8D98-4ED5B19ABBEE}"/>
              </a:ext>
            </a:extLst>
          </p:cNvPr>
          <p:cNvSpPr>
            <a:spLocks xmlns:a="http://schemas.openxmlformats.org/drawingml/2006/main" noGrp="1"/>
          </p:cNvSpPr>
          <p:nvPr/>
        </p:nvSpPr>
        <p:spPr>
          <a:xfrm xmlns:a="http://schemas.openxmlformats.org/drawingml/2006/main">
            <a:off x="609600" y="819150"/>
            <a:ext cx="66675" cy="4333875"/>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67E44E4-EEC5-479D-AD4E-41C3A243EB2F}"/>
              </a:ext>
            </a:extLst>
          </p:cNvPr>
          <p:cNvSpPr>
            <a:spLocks xmlns:a="http://schemas.openxmlformats.org/drawingml/2006/main" noGrp="1"/>
          </p:cNvSpPr>
          <p:nvPr/>
        </p:nvSpPr>
        <p:spPr>
          <a:xfrm xmlns:a="http://schemas.openxmlformats.org/drawingml/2006/main">
            <a:off x="819150" y="83820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GRADUATION DESIGN</a:t>
            </a:r>
          </a:p>
        </p:txBody>
      </p:sp>
      <p:sp>
        <p:nvSpPr>
          <p:cNvPr id="6" name="">
            <a:extLst xmlns:a="http://schemas.openxmlformats.org/drawingml/2006/main">
              <a:ext uri="{FF2B5EF4-FFF2-40B4-BE49-F238E27FC236}">
                <a16:creationId xmlns:a16="http://schemas.microsoft.com/office/drawing/2014/main" id="{DE94DF16-4BAF-4A43-8B37-6BA8271C784C}"/>
              </a:ext>
            </a:extLst>
          </p:cNvPr>
          <p:cNvSpPr>
            <a:spLocks xmlns:a="http://schemas.openxmlformats.org/drawingml/2006/main" noGrp="1"/>
          </p:cNvSpPr>
          <p:nvPr/>
        </p:nvSpPr>
        <p:spPr>
          <a:xfrm xmlns:a="http://schemas.openxmlformats.org/drawingml/2006/main">
            <a:off x="781050" y="1238250"/>
            <a:ext cx="7477125" cy="1752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101214"/>
                </a:solidFill>
              </a:defRPr>
            </a:pPr>
            <a:r>
              <a:rPr sz="3600" b="1">
                <a:solidFill>
                  <a:srgbClr val="101214"/>
                </a:solidFill>
              </a:rPr>
              <a:t>基于 WPF 的智能楼宇照明监控系统的设计与实现</a:t>
            </a:r>
          </a:p>
        </p:txBody>
      </p:sp>
      <p:sp>
        <p:nvSpPr>
          <p:cNvPr id="7" name="">
            <a:extLst xmlns:a="http://schemas.openxmlformats.org/drawingml/2006/main">
              <a:ext uri="{FF2B5EF4-FFF2-40B4-BE49-F238E27FC236}">
                <a16:creationId xmlns:a16="http://schemas.microsoft.com/office/drawing/2014/main" id="{D3331AF3-2C5A-410F-A0B4-E2C920730FEF}"/>
              </a:ext>
            </a:extLst>
          </p:cNvPr>
          <p:cNvSpPr>
            <a:spLocks xmlns:a="http://schemas.openxmlformats.org/drawingml/2006/main" noGrp="1"/>
          </p:cNvSpPr>
          <p:nvPr/>
        </p:nvSpPr>
        <p:spPr>
          <a:xfrm xmlns:a="http://schemas.openxmlformats.org/drawingml/2006/main">
            <a:off x="819150" y="3105150"/>
            <a:ext cx="58102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30363A"/>
                </a:solidFill>
              </a:defRPr>
            </a:pPr>
            <a:r>
              <a:rPr sz="1500" b="0">
                <a:solidFill>
                  <a:srgbClr val="30363A"/>
                </a:solidFill>
              </a:rPr>
              <a:t>面向楼宇照明的实时监测、可视化控制、定时调度与能耗分析平台。</a:t>
            </a:r>
          </a:p>
        </p:txBody>
      </p:sp>
      <p:sp>
        <p:nvSpPr>
          <p:cNvPr id="8" name="">
            <a:extLst xmlns:a="http://schemas.openxmlformats.org/drawingml/2006/main">
              <a:ext uri="{FF2B5EF4-FFF2-40B4-BE49-F238E27FC236}">
                <a16:creationId xmlns:a16="http://schemas.microsoft.com/office/drawing/2014/main" id="{D8B9181D-F989-40AB-9585-535E523DA0D2}"/>
              </a:ext>
            </a:extLst>
          </p:cNvPr>
          <p:cNvSpPr>
            <a:spLocks xmlns:a="http://schemas.openxmlformats.org/drawingml/2006/main" noGrp="1"/>
          </p:cNvSpPr>
          <p:nvPr/>
        </p:nvSpPr>
        <p:spPr>
          <a:xfrm xmlns:a="http://schemas.openxmlformats.org/drawingml/2006/main">
            <a:off x="819150" y="4343400"/>
            <a:ext cx="3714750" cy="876300"/>
          </a:xfrm>
          <a:prstGeom xmlns:a="http://schemas.openxmlformats.org/drawingml/2006/main" prst="roundRect">
            <a:avLst>
              <a:gd name="adj" fmla="val 8696"/>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9" name="">
            <a:extLst xmlns:a="http://schemas.openxmlformats.org/drawingml/2006/main">
              <a:ext uri="{FF2B5EF4-FFF2-40B4-BE49-F238E27FC236}">
                <a16:creationId xmlns:a16="http://schemas.microsoft.com/office/drawing/2014/main" id="{E49408AF-2A51-4B3C-8EA2-7EB2CC7C77BF}"/>
              </a:ext>
            </a:extLst>
          </p:cNvPr>
          <p:cNvSpPr>
            <a:spLocks xmlns:a="http://schemas.openxmlformats.org/drawingml/2006/main" noGrp="1"/>
          </p:cNvSpPr>
          <p:nvPr/>
        </p:nvSpPr>
        <p:spPr>
          <a:xfrm xmlns:a="http://schemas.openxmlformats.org/drawingml/2006/main">
            <a:off x="1066800" y="4552950"/>
            <a:ext cx="3200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101214"/>
                </a:solidFill>
              </a:defRPr>
            </a:pPr>
            <a:r>
              <a:rPr sz="1725" b="1">
                <a:solidFill>
                  <a:srgbClr val="101214"/>
                </a:solidFill>
              </a:rPr>
              <a:t>WPF + MVVM + SQLite + Modbus TCP</a:t>
            </a:r>
          </a:p>
        </p:txBody>
      </p:sp>
      <p:sp>
        <p:nvSpPr>
          <p:cNvPr id="10" name="">
            <a:extLst xmlns:a="http://schemas.openxmlformats.org/drawingml/2006/main">
              <a:ext uri="{FF2B5EF4-FFF2-40B4-BE49-F238E27FC236}">
                <a16:creationId xmlns:a16="http://schemas.microsoft.com/office/drawing/2014/main" id="{8D4A30BD-A8A2-489F-BFF1-66A772410276}"/>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Generated art plate is used as visual direction; all meaningful copy and structure are editable PowerPoint objects.</a:t>
            </a:r>
          </a:p>
        </p:txBody>
      </p:sp>
    </p:spTree>
    <p:extLst>
      <p:ext uri="{BB962C8B-B14F-4D97-AF65-F5344CB8AC3E}">
        <p14:creationId xmlns:p14="http://schemas.microsoft.com/office/powerpoint/2010/main" val="510429561"/>
      </p:ext>
    </p:extLst>
  </p:cSld>
</p:sld>
</file>

<file path=ppt/slides/slide2.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60678D0-8F19-458D-916B-46DD29A5E40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bb01be9c4a24cbe"/>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7057974-8374-480A-814F-DFAEA0F99D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2157"/>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32EDB4D-2CA0-495B-AB63-BA39A15368F0}"/>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SECTION 02</a:t>
            </a:r>
          </a:p>
        </p:txBody>
      </p:sp>
      <p:sp>
        <p:nvSpPr>
          <p:cNvPr id="5" name="">
            <a:extLst xmlns:a="http://schemas.openxmlformats.org/drawingml/2006/main">
              <a:ext uri="{FF2B5EF4-FFF2-40B4-BE49-F238E27FC236}">
                <a16:creationId xmlns:a16="http://schemas.microsoft.com/office/drawing/2014/main" id="{ECE39B2C-998E-4D7F-91BF-7F791471CC27}"/>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02 / 10</a:t>
            </a:r>
          </a:p>
        </p:txBody>
      </p:sp>
      <p:sp>
        <p:nvSpPr>
          <p:cNvPr id="6" name="">
            <a:extLst xmlns:a="http://schemas.openxmlformats.org/drawingml/2006/main">
              <a:ext uri="{FF2B5EF4-FFF2-40B4-BE49-F238E27FC236}">
                <a16:creationId xmlns:a16="http://schemas.microsoft.com/office/drawing/2014/main" id="{7AB3A0E0-77A6-47C7-A983-FA1731D679D3}"/>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402EE9C-BB58-4B31-AD94-E093865DC3B3}"/>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8" name="">
            <a:extLst xmlns:a="http://schemas.openxmlformats.org/drawingml/2006/main">
              <a:ext uri="{FF2B5EF4-FFF2-40B4-BE49-F238E27FC236}">
                <a16:creationId xmlns:a16="http://schemas.microsoft.com/office/drawing/2014/main" id="{C7E0BD3F-0A83-4C96-96E3-53CCB0089B0B}"/>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课题背景与研究意义</a:t>
            </a:r>
          </a:p>
        </p:txBody>
      </p:sp>
      <p:sp>
        <p:nvSpPr>
          <p:cNvPr id="9" name="">
            <a:extLst xmlns:a="http://schemas.openxmlformats.org/drawingml/2006/main">
              <a:ext uri="{FF2B5EF4-FFF2-40B4-BE49-F238E27FC236}">
                <a16:creationId xmlns:a16="http://schemas.microsoft.com/office/drawing/2014/main" id="{B9A29D06-F687-4418-B969-997284D1FF82}"/>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智能楼宇建设与节能减排需求推动照明系统从人工控制走向可视化与智能化。</a:t>
            </a:r>
          </a:p>
        </p:txBody>
      </p:sp>
      <p:sp>
        <p:nvSpPr>
          <p:cNvPr id="10" name="">
            <a:extLst xmlns:a="http://schemas.openxmlformats.org/drawingml/2006/main">
              <a:ext uri="{FF2B5EF4-FFF2-40B4-BE49-F238E27FC236}">
                <a16:creationId xmlns:a16="http://schemas.microsoft.com/office/drawing/2014/main" id="{A149023D-63F6-4215-8FE6-E3EC7E0F6EAB}"/>
              </a:ext>
            </a:extLst>
          </p:cNvPr>
          <p:cNvSpPr>
            <a:spLocks xmlns:a="http://schemas.openxmlformats.org/drawingml/2006/main" noGrp="1"/>
          </p:cNvSpPr>
          <p:nvPr/>
        </p:nvSpPr>
        <p:spPr>
          <a:xfrm xmlns:a="http://schemas.openxmlformats.org/drawingml/2006/main">
            <a:off x="8001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1" name="">
            <a:extLst xmlns:a="http://schemas.openxmlformats.org/drawingml/2006/main">
              <a:ext uri="{FF2B5EF4-FFF2-40B4-BE49-F238E27FC236}">
                <a16:creationId xmlns:a16="http://schemas.microsoft.com/office/drawing/2014/main" id="{B3910D20-C734-4DE1-A978-F32464DAA7E7}"/>
              </a:ext>
            </a:extLst>
          </p:cNvPr>
          <p:cNvSpPr>
            <a:spLocks xmlns:a="http://schemas.openxmlformats.org/drawingml/2006/main" noGrp="1"/>
          </p:cNvSpPr>
          <p:nvPr/>
        </p:nvSpPr>
        <p:spPr>
          <a:xfrm xmlns:a="http://schemas.openxmlformats.org/drawingml/2006/main">
            <a:off x="8001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62EA1F1-BF78-4AD2-8938-6E698EDF93ED}"/>
              </a:ext>
            </a:extLst>
          </p:cNvPr>
          <p:cNvSpPr>
            <a:spLocks xmlns:a="http://schemas.openxmlformats.org/drawingml/2006/main" noGrp="1"/>
          </p:cNvSpPr>
          <p:nvPr/>
        </p:nvSpPr>
        <p:spPr>
          <a:xfrm xmlns:a="http://schemas.openxmlformats.org/drawingml/2006/main">
            <a:off x="10096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3" name="">
            <a:extLst xmlns:a="http://schemas.openxmlformats.org/drawingml/2006/main">
              <a:ext uri="{FF2B5EF4-FFF2-40B4-BE49-F238E27FC236}">
                <a16:creationId xmlns:a16="http://schemas.microsoft.com/office/drawing/2014/main" id="{F90AAFDD-9E85-40AD-8E58-66B36E341ABB}"/>
              </a:ext>
            </a:extLst>
          </p:cNvPr>
          <p:cNvSpPr>
            <a:spLocks xmlns:a="http://schemas.openxmlformats.org/drawingml/2006/main" noGrp="1"/>
          </p:cNvSpPr>
          <p:nvPr/>
        </p:nvSpPr>
        <p:spPr>
          <a:xfrm xmlns:a="http://schemas.openxmlformats.org/drawingml/2006/main">
            <a:off x="1162050" y="4562475"/>
            <a:ext cx="57150" cy="1143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7058BF64-A956-41C5-AC31-55853885BFE0}"/>
              </a:ext>
            </a:extLst>
          </p:cNvPr>
          <p:cNvSpPr>
            <a:spLocks xmlns:a="http://schemas.openxmlformats.org/drawingml/2006/main" noGrp="1"/>
          </p:cNvSpPr>
          <p:nvPr/>
        </p:nvSpPr>
        <p:spPr>
          <a:xfrm xmlns:a="http://schemas.openxmlformats.org/drawingml/2006/main">
            <a:off x="1247775" y="4486275"/>
            <a:ext cx="57150" cy="1905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E4DF2CF-D56D-4F6C-B967-208E2B711FE2}"/>
              </a:ext>
            </a:extLst>
          </p:cNvPr>
          <p:cNvSpPr>
            <a:spLocks xmlns:a="http://schemas.openxmlformats.org/drawingml/2006/main" noGrp="1"/>
          </p:cNvSpPr>
          <p:nvPr/>
        </p:nvSpPr>
        <p:spPr>
          <a:xfrm xmlns:a="http://schemas.openxmlformats.org/drawingml/2006/main">
            <a:off x="1333500" y="4419600"/>
            <a:ext cx="57150" cy="257175"/>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ABAF937-C84E-4FC3-9CBA-9C7A035BFD1B}"/>
              </a:ext>
            </a:extLst>
          </p:cNvPr>
          <p:cNvSpPr>
            <a:spLocks xmlns:a="http://schemas.openxmlformats.org/drawingml/2006/main" noGrp="1"/>
          </p:cNvSpPr>
          <p:nvPr/>
        </p:nvSpPr>
        <p:spPr>
          <a:xfrm xmlns:a="http://schemas.openxmlformats.org/drawingml/2006/main">
            <a:off x="16383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行业背景</a:t>
            </a:r>
          </a:p>
        </p:txBody>
      </p:sp>
      <p:sp>
        <p:nvSpPr>
          <p:cNvPr id="17" name="">
            <a:extLst xmlns:a="http://schemas.openxmlformats.org/drawingml/2006/main">
              <a:ext uri="{FF2B5EF4-FFF2-40B4-BE49-F238E27FC236}">
                <a16:creationId xmlns:a16="http://schemas.microsoft.com/office/drawing/2014/main" id="{35541BF1-8227-4957-B3D8-8ECF22C53D43}"/>
              </a:ext>
            </a:extLst>
          </p:cNvPr>
          <p:cNvSpPr>
            <a:spLocks xmlns:a="http://schemas.openxmlformats.org/drawingml/2006/main" noGrp="1"/>
          </p:cNvSpPr>
          <p:nvPr/>
        </p:nvSpPr>
        <p:spPr>
          <a:xfrm xmlns:a="http://schemas.openxmlformats.org/drawingml/2006/main">
            <a:off x="10287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商业建筑中照明能耗占比较高，传统方式存在管理分散、能耗浪费和状态不透明的问题。</a:t>
            </a:r>
          </a:p>
        </p:txBody>
      </p:sp>
      <p:sp>
        <p:nvSpPr>
          <p:cNvPr id="18" name="">
            <a:extLst xmlns:a="http://schemas.openxmlformats.org/drawingml/2006/main">
              <a:ext uri="{FF2B5EF4-FFF2-40B4-BE49-F238E27FC236}">
                <a16:creationId xmlns:a16="http://schemas.microsoft.com/office/drawing/2014/main" id="{B88136E5-C3A5-4C7D-B306-6B31DEADE8F9}"/>
              </a:ext>
            </a:extLst>
          </p:cNvPr>
          <p:cNvSpPr>
            <a:spLocks xmlns:a="http://schemas.openxmlformats.org/drawingml/2006/main" noGrp="1"/>
          </p:cNvSpPr>
          <p:nvPr/>
        </p:nvSpPr>
        <p:spPr>
          <a:xfrm xmlns:a="http://schemas.openxmlformats.org/drawingml/2006/main">
            <a:off x="441325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9" name="">
            <a:extLst xmlns:a="http://schemas.openxmlformats.org/drawingml/2006/main">
              <a:ext uri="{FF2B5EF4-FFF2-40B4-BE49-F238E27FC236}">
                <a16:creationId xmlns:a16="http://schemas.microsoft.com/office/drawing/2014/main" id="{93E56188-628E-44B3-B331-B6CAE522DDBB}"/>
              </a:ext>
            </a:extLst>
          </p:cNvPr>
          <p:cNvSpPr>
            <a:spLocks xmlns:a="http://schemas.openxmlformats.org/drawingml/2006/main" noGrp="1"/>
          </p:cNvSpPr>
          <p:nvPr/>
        </p:nvSpPr>
        <p:spPr>
          <a:xfrm xmlns:a="http://schemas.openxmlformats.org/drawingml/2006/main">
            <a:off x="441325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BBCD2023-6332-4451-99B9-E10EAF8BBCC0}"/>
              </a:ext>
            </a:extLst>
          </p:cNvPr>
          <p:cNvSpPr>
            <a:spLocks xmlns:a="http://schemas.openxmlformats.org/drawingml/2006/main" noGrp="1"/>
          </p:cNvSpPr>
          <p:nvPr/>
        </p:nvSpPr>
        <p:spPr>
          <a:xfrm xmlns:a="http://schemas.openxmlformats.org/drawingml/2006/main">
            <a:off x="462280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1" name="">
            <a:extLst xmlns:a="http://schemas.openxmlformats.org/drawingml/2006/main">
              <a:ext uri="{FF2B5EF4-FFF2-40B4-BE49-F238E27FC236}">
                <a16:creationId xmlns:a16="http://schemas.microsoft.com/office/drawing/2014/main" id="{B133337E-FDCE-4DE9-9EEB-A47436C2C76A}"/>
              </a:ext>
            </a:extLst>
          </p:cNvPr>
          <p:cNvSpPr>
            <a:spLocks xmlns:a="http://schemas.openxmlformats.org/drawingml/2006/main" noGrp="1"/>
          </p:cNvSpPr>
          <p:nvPr/>
        </p:nvSpPr>
        <p:spPr>
          <a:xfrm xmlns:a="http://schemas.openxmlformats.org/drawingml/2006/main">
            <a:off x="4746625" y="4457700"/>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2" name="">
            <a:extLst xmlns:a="http://schemas.openxmlformats.org/drawingml/2006/main">
              <a:ext uri="{FF2B5EF4-FFF2-40B4-BE49-F238E27FC236}">
                <a16:creationId xmlns:a16="http://schemas.microsoft.com/office/drawing/2014/main" id="{1D02D593-79DF-4E96-B9B5-3659BA3712B9}"/>
              </a:ext>
            </a:extLst>
          </p:cNvPr>
          <p:cNvSpPr>
            <a:spLocks xmlns:a="http://schemas.openxmlformats.org/drawingml/2006/main" noGrp="1"/>
          </p:cNvSpPr>
          <p:nvPr/>
        </p:nvSpPr>
        <p:spPr>
          <a:xfrm xmlns:a="http://schemas.openxmlformats.org/drawingml/2006/main">
            <a:off x="4918075" y="4543425"/>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3" name="">
            <a:extLst xmlns:a="http://schemas.openxmlformats.org/drawingml/2006/main">
              <a:ext uri="{FF2B5EF4-FFF2-40B4-BE49-F238E27FC236}">
                <a16:creationId xmlns:a16="http://schemas.microsoft.com/office/drawing/2014/main" id="{0DCD0907-1A68-496C-8A9B-5998B1251BC9}"/>
              </a:ext>
            </a:extLst>
          </p:cNvPr>
          <p:cNvSpPr>
            <a:spLocks xmlns:a="http://schemas.openxmlformats.org/drawingml/2006/main" noGrp="1"/>
          </p:cNvSpPr>
          <p:nvPr/>
        </p:nvSpPr>
        <p:spPr>
          <a:xfrm xmlns:a="http://schemas.openxmlformats.org/drawingml/2006/main">
            <a:off x="4832350" y="4524375"/>
            <a:ext cx="180975" cy="28575"/>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0739A861-DFBB-4B7D-B85C-5B08BAB81F06}"/>
              </a:ext>
            </a:extLst>
          </p:cNvPr>
          <p:cNvSpPr>
            <a:spLocks xmlns:a="http://schemas.openxmlformats.org/drawingml/2006/main" noGrp="1"/>
          </p:cNvSpPr>
          <p:nvPr/>
        </p:nvSpPr>
        <p:spPr>
          <a:xfrm xmlns:a="http://schemas.openxmlformats.org/drawingml/2006/main">
            <a:off x="525145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现实痛点</a:t>
            </a:r>
          </a:p>
        </p:txBody>
      </p:sp>
      <p:sp>
        <p:nvSpPr>
          <p:cNvPr id="25" name="">
            <a:extLst xmlns:a="http://schemas.openxmlformats.org/drawingml/2006/main">
              <a:ext uri="{FF2B5EF4-FFF2-40B4-BE49-F238E27FC236}">
                <a16:creationId xmlns:a16="http://schemas.microsoft.com/office/drawing/2014/main" id="{7EB1715A-4292-4B7C-9577-84BC56EF14CB}"/>
              </a:ext>
            </a:extLst>
          </p:cNvPr>
          <p:cNvSpPr>
            <a:spLocks xmlns:a="http://schemas.openxmlformats.org/drawingml/2006/main" noGrp="1"/>
          </p:cNvSpPr>
          <p:nvPr/>
        </p:nvSpPr>
        <p:spPr>
          <a:xfrm xmlns:a="http://schemas.openxmlformats.org/drawingml/2006/main">
            <a:off x="464185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人工巡检效率低、联动控制能力弱、缺少历史数据支撑，无法满足现代楼宇精细化管理需求。</a:t>
            </a:r>
          </a:p>
        </p:txBody>
      </p:sp>
      <p:sp>
        <p:nvSpPr>
          <p:cNvPr id="26" name="">
            <a:extLst xmlns:a="http://schemas.openxmlformats.org/drawingml/2006/main">
              <a:ext uri="{FF2B5EF4-FFF2-40B4-BE49-F238E27FC236}">
                <a16:creationId xmlns:a16="http://schemas.microsoft.com/office/drawing/2014/main" id="{706B6209-8F84-4ACA-8468-28ED318C153A}"/>
              </a:ext>
            </a:extLst>
          </p:cNvPr>
          <p:cNvSpPr>
            <a:spLocks xmlns:a="http://schemas.openxmlformats.org/drawingml/2006/main" noGrp="1"/>
          </p:cNvSpPr>
          <p:nvPr/>
        </p:nvSpPr>
        <p:spPr>
          <a:xfrm xmlns:a="http://schemas.openxmlformats.org/drawingml/2006/main">
            <a:off x="80264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7" name="">
            <a:extLst xmlns:a="http://schemas.openxmlformats.org/drawingml/2006/main">
              <a:ext uri="{FF2B5EF4-FFF2-40B4-BE49-F238E27FC236}">
                <a16:creationId xmlns:a16="http://schemas.microsoft.com/office/drawing/2014/main" id="{E277AA4E-BADB-454A-80C4-CD17545154BC}"/>
              </a:ext>
            </a:extLst>
          </p:cNvPr>
          <p:cNvSpPr>
            <a:spLocks xmlns:a="http://schemas.openxmlformats.org/drawingml/2006/main" noGrp="1"/>
          </p:cNvSpPr>
          <p:nvPr/>
        </p:nvSpPr>
        <p:spPr>
          <a:xfrm xmlns:a="http://schemas.openxmlformats.org/drawingml/2006/main">
            <a:off x="80264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ACF99623-D757-4575-8F21-227DB602D82C}"/>
              </a:ext>
            </a:extLst>
          </p:cNvPr>
          <p:cNvSpPr>
            <a:spLocks xmlns:a="http://schemas.openxmlformats.org/drawingml/2006/main" noGrp="1"/>
          </p:cNvSpPr>
          <p:nvPr/>
        </p:nvSpPr>
        <p:spPr>
          <a:xfrm xmlns:a="http://schemas.openxmlformats.org/drawingml/2006/main">
            <a:off x="82359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9" name="">
            <a:extLst xmlns:a="http://schemas.openxmlformats.org/drawingml/2006/main">
              <a:ext uri="{FF2B5EF4-FFF2-40B4-BE49-F238E27FC236}">
                <a16:creationId xmlns:a16="http://schemas.microsoft.com/office/drawing/2014/main" id="{513A5BBE-2192-4C4F-A0D5-F0D7A24D9D67}"/>
              </a:ext>
            </a:extLst>
          </p:cNvPr>
          <p:cNvSpPr>
            <a:spLocks xmlns:a="http://schemas.openxmlformats.org/drawingml/2006/main" noGrp="1"/>
          </p:cNvSpPr>
          <p:nvPr/>
        </p:nvSpPr>
        <p:spPr>
          <a:xfrm xmlns:a="http://schemas.openxmlformats.org/drawingml/2006/main">
            <a:off x="8359775" y="4429125"/>
            <a:ext cx="247650" cy="123825"/>
          </a:xfrm>
          <a:prstGeom xmlns:a="http://schemas.openxmlformats.org/drawingml/2006/main" prst="roundRect">
            <a:avLst>
              <a:gd name="adj" fmla="val 50000"/>
            </a:avLst>
          </a:prstGeom>
          <a:solidFill xmlns:a="http://schemas.openxmlformats.org/drawingml/2006/main">
            <a:srgbClr val="27C47D"/>
          </a:solidFill>
          <a:ln xmlns:a="http://schemas.openxmlformats.org/drawingml/2006/main" w="9525">
            <a:solidFill>
              <a:srgbClr val="101214"/>
            </a:solidFill>
            <a:prstDash val="solid"/>
          </a:ln>
        </p:spPr>
      </p:sp>
      <p:sp>
        <p:nvSpPr>
          <p:cNvPr id="30" name="">
            <a:extLst xmlns:a="http://schemas.openxmlformats.org/drawingml/2006/main">
              <a:ext uri="{FF2B5EF4-FFF2-40B4-BE49-F238E27FC236}">
                <a16:creationId xmlns:a16="http://schemas.microsoft.com/office/drawing/2014/main" id="{4DCC4A37-8C60-4306-8CF9-A4D986084605}"/>
              </a:ext>
            </a:extLst>
          </p:cNvPr>
          <p:cNvSpPr>
            <a:spLocks xmlns:a="http://schemas.openxmlformats.org/drawingml/2006/main" noGrp="1"/>
          </p:cNvSpPr>
          <p:nvPr/>
        </p:nvSpPr>
        <p:spPr>
          <a:xfrm xmlns:a="http://schemas.openxmlformats.org/drawingml/2006/main">
            <a:off x="8407400" y="4514850"/>
            <a:ext cx="247650" cy="123825"/>
          </a:xfrm>
          <a:prstGeom xmlns:a="http://schemas.openxmlformats.org/drawingml/2006/main" prst="roundRect">
            <a:avLst>
              <a:gd name="adj" fmla="val 50000"/>
            </a:avLst>
          </a:prstGeom>
          <a:solidFill xmlns:a="http://schemas.openxmlformats.org/drawingml/2006/main">
            <a:srgbClr val="D7A83D"/>
          </a:solidFill>
          <a:ln xmlns:a="http://schemas.openxmlformats.org/drawingml/2006/main" w="9525">
            <a:solidFill>
              <a:srgbClr val="101214"/>
            </a:solidFill>
            <a:prstDash val="solid"/>
          </a:ln>
        </p:spPr>
      </p:sp>
      <p:sp>
        <p:nvSpPr>
          <p:cNvPr id="31" name="">
            <a:extLst xmlns:a="http://schemas.openxmlformats.org/drawingml/2006/main">
              <a:ext uri="{FF2B5EF4-FFF2-40B4-BE49-F238E27FC236}">
                <a16:creationId xmlns:a16="http://schemas.microsoft.com/office/drawing/2014/main" id="{3DE59C03-76DD-49CF-A412-A1A5F5E9E848}"/>
              </a:ext>
            </a:extLst>
          </p:cNvPr>
          <p:cNvSpPr>
            <a:spLocks xmlns:a="http://schemas.openxmlformats.org/drawingml/2006/main" noGrp="1"/>
          </p:cNvSpPr>
          <p:nvPr/>
        </p:nvSpPr>
        <p:spPr>
          <a:xfrm xmlns:a="http://schemas.openxmlformats.org/drawingml/2006/main">
            <a:off x="8455025" y="4600575"/>
            <a:ext cx="190500" cy="95250"/>
          </a:xfrm>
          <a:prstGeom xmlns:a="http://schemas.openxmlformats.org/drawingml/2006/main" prst="roundRect">
            <a:avLst>
              <a:gd name="adj" fmla="val 50000"/>
            </a:avLst>
          </a:prstGeom>
          <a:solidFill xmlns:a="http://schemas.openxmlformats.org/drawingml/2006/main">
            <a:srgbClr val="E86F5B"/>
          </a:solidFill>
          <a:ln xmlns:a="http://schemas.openxmlformats.org/drawingml/2006/main" w="9525">
            <a:solidFill>
              <a:srgbClr val="101214"/>
            </a:solidFill>
            <a:prstDash val="solid"/>
          </a:ln>
        </p:spPr>
      </p:sp>
      <p:sp>
        <p:nvSpPr>
          <p:cNvPr id="32" name="">
            <a:extLst xmlns:a="http://schemas.openxmlformats.org/drawingml/2006/main">
              <a:ext uri="{FF2B5EF4-FFF2-40B4-BE49-F238E27FC236}">
                <a16:creationId xmlns:a16="http://schemas.microsoft.com/office/drawing/2014/main" id="{36438691-422C-4C5E-88C8-9EFC74C9D057}"/>
              </a:ext>
            </a:extLst>
          </p:cNvPr>
          <p:cNvSpPr>
            <a:spLocks xmlns:a="http://schemas.openxmlformats.org/drawingml/2006/main" noGrp="1"/>
          </p:cNvSpPr>
          <p:nvPr/>
        </p:nvSpPr>
        <p:spPr>
          <a:xfrm xmlns:a="http://schemas.openxmlformats.org/drawingml/2006/main">
            <a:off x="88646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课题价值</a:t>
            </a:r>
          </a:p>
        </p:txBody>
      </p:sp>
      <p:sp>
        <p:nvSpPr>
          <p:cNvPr id="33" name="">
            <a:extLst xmlns:a="http://schemas.openxmlformats.org/drawingml/2006/main">
              <a:ext uri="{FF2B5EF4-FFF2-40B4-BE49-F238E27FC236}">
                <a16:creationId xmlns:a16="http://schemas.microsoft.com/office/drawing/2014/main" id="{161A2A9B-D9B1-49E3-B221-147A76007F51}"/>
              </a:ext>
            </a:extLst>
          </p:cNvPr>
          <p:cNvSpPr>
            <a:spLocks xmlns:a="http://schemas.openxmlformats.org/drawingml/2006/main" noGrp="1"/>
          </p:cNvSpPr>
          <p:nvPr/>
        </p:nvSpPr>
        <p:spPr>
          <a:xfrm xmlns:a="http://schemas.openxmlformats.org/drawingml/2006/main">
            <a:off x="82550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通过软件平台实现监测、控制、调度和统计一体化，提升管理效率并支撑节能目标。</a:t>
            </a:r>
          </a:p>
        </p:txBody>
      </p:sp>
      <p:sp>
        <p:nvSpPr>
          <p:cNvPr id="34" name="">
            <a:extLst xmlns:a="http://schemas.openxmlformats.org/drawingml/2006/main">
              <a:ext uri="{FF2B5EF4-FFF2-40B4-BE49-F238E27FC236}">
                <a16:creationId xmlns:a16="http://schemas.microsoft.com/office/drawing/2014/main" id="{1D062AD3-B378-46BA-A0CF-991F6A51F879}"/>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Generated art plate is used as visual direction; all meaningful copy and structure are editable PowerPoint objects.</a:t>
            </a:r>
          </a:p>
        </p:txBody>
      </p:sp>
    </p:spTree>
    <p:extLst>
      <p:ext uri="{BB962C8B-B14F-4D97-AF65-F5344CB8AC3E}">
        <p14:creationId xmlns:p14="http://schemas.microsoft.com/office/powerpoint/2010/main" val="1446049147"/>
      </p:ext>
    </p:extLst>
  </p:cSld>
</p:sld>
</file>

<file path=ppt/slides/slide3.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60678D0-8F19-458D-916B-46DD29A5E40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f8c9d9e4b734f20"/>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9FC863C-8D71-49C7-9DFC-F0062832429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4118"/>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63F1138-B0A9-41AE-93B7-8660DDA94709}"/>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SECTION 03</a:t>
            </a:r>
          </a:p>
        </p:txBody>
      </p:sp>
      <p:sp>
        <p:nvSpPr>
          <p:cNvPr id="5" name="">
            <a:extLst xmlns:a="http://schemas.openxmlformats.org/drawingml/2006/main">
              <a:ext uri="{FF2B5EF4-FFF2-40B4-BE49-F238E27FC236}">
                <a16:creationId xmlns:a16="http://schemas.microsoft.com/office/drawing/2014/main" id="{3BC8035D-F671-40C5-AA38-D022AE89710E}"/>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03 / 10</a:t>
            </a:r>
          </a:p>
        </p:txBody>
      </p:sp>
      <p:sp>
        <p:nvSpPr>
          <p:cNvPr id="6" name="">
            <a:extLst xmlns:a="http://schemas.openxmlformats.org/drawingml/2006/main">
              <a:ext uri="{FF2B5EF4-FFF2-40B4-BE49-F238E27FC236}">
                <a16:creationId xmlns:a16="http://schemas.microsoft.com/office/drawing/2014/main" id="{19B60F73-5C11-4435-A0D8-28BFA9B0C7D3}"/>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4F1A28FB-3E9F-437A-9864-0B5717C9321B}"/>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8" name="">
            <a:extLst xmlns:a="http://schemas.openxmlformats.org/drawingml/2006/main">
              <a:ext uri="{FF2B5EF4-FFF2-40B4-BE49-F238E27FC236}">
                <a16:creationId xmlns:a16="http://schemas.microsoft.com/office/drawing/2014/main" id="{21FDE596-0B0A-4B85-87A3-3C9053592A9B}"/>
              </a:ext>
            </a:extLst>
          </p:cNvPr>
          <p:cNvSpPr>
            <a:spLocks xmlns:a="http://schemas.openxmlformats.org/drawingml/2006/main" noGrp="1"/>
          </p:cNvSpPr>
          <p:nvPr/>
        </p:nvSpPr>
        <p:spPr>
          <a:xfrm xmlns:a="http://schemas.openxmlformats.org/drawingml/2006/main">
            <a:off x="609600" y="819150"/>
            <a:ext cx="66675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系统需求与设计目标</a:t>
            </a:r>
          </a:p>
        </p:txBody>
      </p:sp>
      <p:sp>
        <p:nvSpPr>
          <p:cNvPr id="9" name="">
            <a:extLst xmlns:a="http://schemas.openxmlformats.org/drawingml/2006/main">
              <a:ext uri="{FF2B5EF4-FFF2-40B4-BE49-F238E27FC236}">
                <a16:creationId xmlns:a16="http://schemas.microsoft.com/office/drawing/2014/main" id="{E93C404A-1D5C-4215-9C1A-7141225B44FF}"/>
              </a:ext>
            </a:extLst>
          </p:cNvPr>
          <p:cNvSpPr>
            <a:spLocks xmlns:a="http://schemas.openxmlformats.org/drawingml/2006/main" noGrp="1"/>
          </p:cNvSpPr>
          <p:nvPr/>
        </p:nvSpPr>
        <p:spPr>
          <a:xfrm xmlns:a="http://schemas.openxmlformats.org/drawingml/2006/main">
            <a:off x="628650" y="2228850"/>
            <a:ext cx="6667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在功能、可视化和可扩展性上同时满足毕业设计与工程演示要求。</a:t>
            </a:r>
          </a:p>
        </p:txBody>
      </p:sp>
      <p:sp>
        <p:nvSpPr>
          <p:cNvPr id="10" name="">
            <a:extLst xmlns:a="http://schemas.openxmlformats.org/drawingml/2006/main">
              <a:ext uri="{FF2B5EF4-FFF2-40B4-BE49-F238E27FC236}">
                <a16:creationId xmlns:a16="http://schemas.microsoft.com/office/drawing/2014/main" id="{E364F51F-3562-4DE7-9323-23993B6B6B5C}"/>
              </a:ext>
            </a:extLst>
          </p:cNvPr>
          <p:cNvSpPr>
            <a:spLocks xmlns:a="http://schemas.openxmlformats.org/drawingml/2006/main" noGrp="1"/>
          </p:cNvSpPr>
          <p:nvPr/>
        </p:nvSpPr>
        <p:spPr>
          <a:xfrm xmlns:a="http://schemas.openxmlformats.org/drawingml/2006/main">
            <a:off x="876300" y="3848100"/>
            <a:ext cx="3143250" cy="1657350"/>
          </a:xfrm>
          <a:prstGeom xmlns:a="http://schemas.openxmlformats.org/drawingml/2006/main" prst="roundRect">
            <a:avLst>
              <a:gd name="adj" fmla="val 4598"/>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1" name="">
            <a:extLst xmlns:a="http://schemas.openxmlformats.org/drawingml/2006/main">
              <a:ext uri="{FF2B5EF4-FFF2-40B4-BE49-F238E27FC236}">
                <a16:creationId xmlns:a16="http://schemas.microsoft.com/office/drawing/2014/main" id="{CA698C3C-C337-4143-AB3E-E1DC05D57BB4}"/>
              </a:ext>
            </a:extLst>
          </p:cNvPr>
          <p:cNvSpPr>
            <a:spLocks xmlns:a="http://schemas.openxmlformats.org/drawingml/2006/main" noGrp="1"/>
          </p:cNvSpPr>
          <p:nvPr/>
        </p:nvSpPr>
        <p:spPr>
          <a:xfrm xmlns:a="http://schemas.openxmlformats.org/drawingml/2006/main">
            <a:off x="876300" y="3848100"/>
            <a:ext cx="3143250" cy="66675"/>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5702749-C6CF-460D-AEB8-31DC7B7CE780}"/>
              </a:ext>
            </a:extLst>
          </p:cNvPr>
          <p:cNvSpPr>
            <a:spLocks xmlns:a="http://schemas.openxmlformats.org/drawingml/2006/main" noGrp="1"/>
          </p:cNvSpPr>
          <p:nvPr/>
        </p:nvSpPr>
        <p:spPr>
          <a:xfrm xmlns:a="http://schemas.openxmlformats.org/drawingml/2006/main">
            <a:off x="1085850" y="4076700"/>
            <a:ext cx="2724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01214"/>
                </a:solidFill>
              </a:defRPr>
            </a:pPr>
            <a:r>
              <a:rPr sz="2550" b="1">
                <a:solidFill>
                  <a:srgbClr val="101214"/>
                </a:solidFill>
              </a:rPr>
              <a:t>5 层</a:t>
            </a:r>
          </a:p>
        </p:txBody>
      </p:sp>
      <p:sp>
        <p:nvSpPr>
          <p:cNvPr id="13" name="">
            <a:extLst xmlns:a="http://schemas.openxmlformats.org/drawingml/2006/main">
              <a:ext uri="{FF2B5EF4-FFF2-40B4-BE49-F238E27FC236}">
                <a16:creationId xmlns:a16="http://schemas.microsoft.com/office/drawing/2014/main" id="{B2E39048-BD55-4D88-9729-EC4215E2FE9A}"/>
              </a:ext>
            </a:extLst>
          </p:cNvPr>
          <p:cNvSpPr>
            <a:spLocks xmlns:a="http://schemas.openxmlformats.org/drawingml/2006/main" noGrp="1"/>
          </p:cNvSpPr>
          <p:nvPr/>
        </p:nvSpPr>
        <p:spPr>
          <a:xfrm xmlns:a="http://schemas.openxmlformats.org/drawingml/2006/main">
            <a:off x="1104900" y="4629150"/>
            <a:ext cx="2686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0363A"/>
                </a:solidFill>
              </a:defRPr>
            </a:pPr>
            <a:r>
              <a:rPr sz="1200" b="0">
                <a:solidFill>
                  <a:srgbClr val="30363A"/>
                </a:solidFill>
              </a:rPr>
              <a:t>楼层示意范围</a:t>
            </a:r>
          </a:p>
        </p:txBody>
      </p:sp>
      <p:sp>
        <p:nvSpPr>
          <p:cNvPr id="14" name="">
            <a:extLst xmlns:a="http://schemas.openxmlformats.org/drawingml/2006/main">
              <a:ext uri="{FF2B5EF4-FFF2-40B4-BE49-F238E27FC236}">
                <a16:creationId xmlns:a16="http://schemas.microsoft.com/office/drawing/2014/main" id="{3310C511-1F05-4616-A279-409D2E30F58E}"/>
              </a:ext>
            </a:extLst>
          </p:cNvPr>
          <p:cNvSpPr>
            <a:spLocks xmlns:a="http://schemas.openxmlformats.org/drawingml/2006/main" noGrp="1"/>
          </p:cNvSpPr>
          <p:nvPr/>
        </p:nvSpPr>
        <p:spPr>
          <a:xfrm xmlns:a="http://schemas.openxmlformats.org/drawingml/2006/main">
            <a:off x="1104900" y="5105400"/>
            <a:ext cx="268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覆盖楼层、区域与照明回路层级</a:t>
            </a:r>
          </a:p>
        </p:txBody>
      </p:sp>
      <p:sp>
        <p:nvSpPr>
          <p:cNvPr id="15" name="">
            <a:extLst xmlns:a="http://schemas.openxmlformats.org/drawingml/2006/main">
              <a:ext uri="{FF2B5EF4-FFF2-40B4-BE49-F238E27FC236}">
                <a16:creationId xmlns:a16="http://schemas.microsoft.com/office/drawing/2014/main" id="{F7F06031-CB00-440D-A243-5D9DC15ACAAE}"/>
              </a:ext>
            </a:extLst>
          </p:cNvPr>
          <p:cNvSpPr>
            <a:spLocks xmlns:a="http://schemas.openxmlformats.org/drawingml/2006/main" noGrp="1"/>
          </p:cNvSpPr>
          <p:nvPr/>
        </p:nvSpPr>
        <p:spPr>
          <a:xfrm xmlns:a="http://schemas.openxmlformats.org/drawingml/2006/main">
            <a:off x="4400550" y="3848100"/>
            <a:ext cx="3143250" cy="1657350"/>
          </a:xfrm>
          <a:prstGeom xmlns:a="http://schemas.openxmlformats.org/drawingml/2006/main" prst="roundRect">
            <a:avLst>
              <a:gd name="adj" fmla="val 4598"/>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6" name="">
            <a:extLst xmlns:a="http://schemas.openxmlformats.org/drawingml/2006/main">
              <a:ext uri="{FF2B5EF4-FFF2-40B4-BE49-F238E27FC236}">
                <a16:creationId xmlns:a16="http://schemas.microsoft.com/office/drawing/2014/main" id="{F4FB37FA-4D97-47BA-9C5C-A9402483A12B}"/>
              </a:ext>
            </a:extLst>
          </p:cNvPr>
          <p:cNvSpPr>
            <a:spLocks xmlns:a="http://schemas.openxmlformats.org/drawingml/2006/main" noGrp="1"/>
          </p:cNvSpPr>
          <p:nvPr/>
        </p:nvSpPr>
        <p:spPr>
          <a:xfrm xmlns:a="http://schemas.openxmlformats.org/drawingml/2006/main">
            <a:off x="4400550" y="3848100"/>
            <a:ext cx="3143250" cy="66675"/>
          </a:xfrm>
          <a:prstGeom xmlns:a="http://schemas.openxmlformats.org/drawingml/2006/main" prst="rect">
            <a:avLst/>
          </a:prstGeom>
          <a:solidFill xmlns:a="http://schemas.openxmlformats.org/drawingml/2006/main">
            <a:srgbClr val="D7A83D"/>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4B46AB48-DB69-4BFB-A966-76D5880750F1}"/>
              </a:ext>
            </a:extLst>
          </p:cNvPr>
          <p:cNvSpPr>
            <a:spLocks xmlns:a="http://schemas.openxmlformats.org/drawingml/2006/main" noGrp="1"/>
          </p:cNvSpPr>
          <p:nvPr/>
        </p:nvSpPr>
        <p:spPr>
          <a:xfrm xmlns:a="http://schemas.openxmlformats.org/drawingml/2006/main">
            <a:off x="4610100" y="4076700"/>
            <a:ext cx="2724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01214"/>
                </a:solidFill>
              </a:defRPr>
            </a:pPr>
            <a:r>
              <a:rPr sz="2550" b="1">
                <a:solidFill>
                  <a:srgbClr val="101214"/>
                </a:solidFill>
              </a:rPr>
              <a:t>97 个</a:t>
            </a:r>
          </a:p>
        </p:txBody>
      </p:sp>
      <p:sp>
        <p:nvSpPr>
          <p:cNvPr id="18" name="">
            <a:extLst xmlns:a="http://schemas.openxmlformats.org/drawingml/2006/main">
              <a:ext uri="{FF2B5EF4-FFF2-40B4-BE49-F238E27FC236}">
                <a16:creationId xmlns:a16="http://schemas.microsoft.com/office/drawing/2014/main" id="{EF018F95-80D3-4B8B-8870-F2236BCEFB69}"/>
              </a:ext>
            </a:extLst>
          </p:cNvPr>
          <p:cNvSpPr>
            <a:spLocks xmlns:a="http://schemas.openxmlformats.org/drawingml/2006/main" noGrp="1"/>
          </p:cNvSpPr>
          <p:nvPr/>
        </p:nvSpPr>
        <p:spPr>
          <a:xfrm xmlns:a="http://schemas.openxmlformats.org/drawingml/2006/main">
            <a:off x="4629150" y="4629150"/>
            <a:ext cx="2686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0363A"/>
                </a:solidFill>
              </a:defRPr>
            </a:pPr>
            <a:r>
              <a:rPr sz="1200" b="0">
                <a:solidFill>
                  <a:srgbClr val="30363A"/>
                </a:solidFill>
              </a:rPr>
              <a:t>预置照明回路</a:t>
            </a:r>
          </a:p>
        </p:txBody>
      </p:sp>
      <p:sp>
        <p:nvSpPr>
          <p:cNvPr id="19" name="">
            <a:extLst xmlns:a="http://schemas.openxmlformats.org/drawingml/2006/main">
              <a:ext uri="{FF2B5EF4-FFF2-40B4-BE49-F238E27FC236}">
                <a16:creationId xmlns:a16="http://schemas.microsoft.com/office/drawing/2014/main" id="{A95206FE-5DF7-4DED-9AB1-CB6C3CBF36BC}"/>
              </a:ext>
            </a:extLst>
          </p:cNvPr>
          <p:cNvSpPr>
            <a:spLocks xmlns:a="http://schemas.openxmlformats.org/drawingml/2006/main" noGrp="1"/>
          </p:cNvSpPr>
          <p:nvPr/>
        </p:nvSpPr>
        <p:spPr>
          <a:xfrm xmlns:a="http://schemas.openxmlformats.org/drawingml/2006/main">
            <a:off x="4629150" y="5105400"/>
            <a:ext cx="268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支持平面图与三维视图联动控制</a:t>
            </a:r>
          </a:p>
        </p:txBody>
      </p:sp>
      <p:sp>
        <p:nvSpPr>
          <p:cNvPr id="20" name="">
            <a:extLst xmlns:a="http://schemas.openxmlformats.org/drawingml/2006/main">
              <a:ext uri="{FF2B5EF4-FFF2-40B4-BE49-F238E27FC236}">
                <a16:creationId xmlns:a16="http://schemas.microsoft.com/office/drawing/2014/main" id="{5FD0D881-7E36-43C9-8202-5107519111E7}"/>
              </a:ext>
            </a:extLst>
          </p:cNvPr>
          <p:cNvSpPr>
            <a:spLocks xmlns:a="http://schemas.openxmlformats.org/drawingml/2006/main" noGrp="1"/>
          </p:cNvSpPr>
          <p:nvPr/>
        </p:nvSpPr>
        <p:spPr>
          <a:xfrm xmlns:a="http://schemas.openxmlformats.org/drawingml/2006/main">
            <a:off x="7924800" y="3848100"/>
            <a:ext cx="3143250" cy="1657350"/>
          </a:xfrm>
          <a:prstGeom xmlns:a="http://schemas.openxmlformats.org/drawingml/2006/main" prst="roundRect">
            <a:avLst>
              <a:gd name="adj" fmla="val 4598"/>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1" name="">
            <a:extLst xmlns:a="http://schemas.openxmlformats.org/drawingml/2006/main">
              <a:ext uri="{FF2B5EF4-FFF2-40B4-BE49-F238E27FC236}">
                <a16:creationId xmlns:a16="http://schemas.microsoft.com/office/drawing/2014/main" id="{26B320E3-E76F-4C50-BEA4-1A18F341FCE2}"/>
              </a:ext>
            </a:extLst>
          </p:cNvPr>
          <p:cNvSpPr>
            <a:spLocks xmlns:a="http://schemas.openxmlformats.org/drawingml/2006/main" noGrp="1"/>
          </p:cNvSpPr>
          <p:nvPr/>
        </p:nvSpPr>
        <p:spPr>
          <a:xfrm xmlns:a="http://schemas.openxmlformats.org/drawingml/2006/main">
            <a:off x="7924800" y="3848100"/>
            <a:ext cx="3143250" cy="66675"/>
          </a:xfrm>
          <a:prstGeom xmlns:a="http://schemas.openxmlformats.org/drawingml/2006/main" prst="rect">
            <a:avLst/>
          </a:prstGeom>
          <a:solidFill xmlns:a="http://schemas.openxmlformats.org/drawingml/2006/main">
            <a:srgbClr val="E86F5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6D3EC5F3-875A-47D1-BBA6-BDE44AA1D968}"/>
              </a:ext>
            </a:extLst>
          </p:cNvPr>
          <p:cNvSpPr>
            <a:spLocks xmlns:a="http://schemas.openxmlformats.org/drawingml/2006/main" noGrp="1"/>
          </p:cNvSpPr>
          <p:nvPr/>
        </p:nvSpPr>
        <p:spPr>
          <a:xfrm xmlns:a="http://schemas.openxmlformats.org/drawingml/2006/main">
            <a:off x="8134350" y="4076700"/>
            <a:ext cx="2724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01214"/>
                </a:solidFill>
              </a:defRPr>
            </a:pPr>
            <a:r>
              <a:rPr sz="2550" b="1">
                <a:solidFill>
                  <a:srgbClr val="101214"/>
                </a:solidFill>
              </a:rPr>
              <a:t>4 类</a:t>
            </a:r>
          </a:p>
        </p:txBody>
      </p:sp>
      <p:sp>
        <p:nvSpPr>
          <p:cNvPr id="23" name="">
            <a:extLst xmlns:a="http://schemas.openxmlformats.org/drawingml/2006/main">
              <a:ext uri="{FF2B5EF4-FFF2-40B4-BE49-F238E27FC236}">
                <a16:creationId xmlns:a16="http://schemas.microsoft.com/office/drawing/2014/main" id="{587D4B1A-92D5-451C-AC75-98C51217222D}"/>
              </a:ext>
            </a:extLst>
          </p:cNvPr>
          <p:cNvSpPr>
            <a:spLocks xmlns:a="http://schemas.openxmlformats.org/drawingml/2006/main" noGrp="1"/>
          </p:cNvSpPr>
          <p:nvPr/>
        </p:nvSpPr>
        <p:spPr>
          <a:xfrm xmlns:a="http://schemas.openxmlformats.org/drawingml/2006/main">
            <a:off x="8153400" y="4629150"/>
            <a:ext cx="2686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0363A"/>
                </a:solidFill>
              </a:defRPr>
            </a:pPr>
            <a:r>
              <a:rPr sz="1200" b="0">
                <a:solidFill>
                  <a:srgbClr val="30363A"/>
                </a:solidFill>
              </a:rPr>
              <a:t>核心控制对象</a:t>
            </a:r>
          </a:p>
        </p:txBody>
      </p:sp>
      <p:sp>
        <p:nvSpPr>
          <p:cNvPr id="24" name="">
            <a:extLst xmlns:a="http://schemas.openxmlformats.org/drawingml/2006/main">
              <a:ext uri="{FF2B5EF4-FFF2-40B4-BE49-F238E27FC236}">
                <a16:creationId xmlns:a16="http://schemas.microsoft.com/office/drawing/2014/main" id="{74D40798-B0D7-4B1A-A4F8-6471316969F5}"/>
              </a:ext>
            </a:extLst>
          </p:cNvPr>
          <p:cNvSpPr>
            <a:spLocks xmlns:a="http://schemas.openxmlformats.org/drawingml/2006/main" noGrp="1"/>
          </p:cNvSpPr>
          <p:nvPr/>
        </p:nvSpPr>
        <p:spPr>
          <a:xfrm xmlns:a="http://schemas.openxmlformats.org/drawingml/2006/main">
            <a:off x="8153400" y="5105400"/>
            <a:ext cx="268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单回路、分组、情景模式、全楼</a:t>
            </a:r>
          </a:p>
        </p:txBody>
      </p:sp>
      <p:sp>
        <p:nvSpPr>
          <p:cNvPr id="25" name="">
            <a:extLst xmlns:a="http://schemas.openxmlformats.org/drawingml/2006/main">
              <a:ext uri="{FF2B5EF4-FFF2-40B4-BE49-F238E27FC236}">
                <a16:creationId xmlns:a16="http://schemas.microsoft.com/office/drawing/2014/main" id="{EC403BE8-67F7-429F-BDC0-757B86F02C67}"/>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Generated art plate is used as visual direction; all meaningful copy and structure are editable PowerPoint objects.</a:t>
            </a:r>
          </a:p>
        </p:txBody>
      </p:sp>
    </p:spTree>
    <p:extLst>
      <p:ext uri="{BB962C8B-B14F-4D97-AF65-F5344CB8AC3E}">
        <p14:creationId xmlns:p14="http://schemas.microsoft.com/office/powerpoint/2010/main" val="965979619"/>
      </p:ext>
    </p:extLst>
  </p:cSld>
</p:sld>
</file>

<file path=ppt/slides/slide4.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60678D0-8F19-458D-916B-46DD29A5E40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e632c5412914351"/>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BCAF5DA-D3BC-40EC-9A36-6CF3238612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2157"/>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453485F-2BB9-4A5F-B8DB-CEA2131BC8CE}"/>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SECTION 04</a:t>
            </a:r>
          </a:p>
        </p:txBody>
      </p:sp>
      <p:sp>
        <p:nvSpPr>
          <p:cNvPr id="5" name="">
            <a:extLst xmlns:a="http://schemas.openxmlformats.org/drawingml/2006/main">
              <a:ext uri="{FF2B5EF4-FFF2-40B4-BE49-F238E27FC236}">
                <a16:creationId xmlns:a16="http://schemas.microsoft.com/office/drawing/2014/main" id="{87DB90FE-429B-46E8-867E-3993910F6A84}"/>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04 / 10</a:t>
            </a:r>
          </a:p>
        </p:txBody>
      </p:sp>
      <p:sp>
        <p:nvSpPr>
          <p:cNvPr id="6" name="">
            <a:extLst xmlns:a="http://schemas.openxmlformats.org/drawingml/2006/main">
              <a:ext uri="{FF2B5EF4-FFF2-40B4-BE49-F238E27FC236}">
                <a16:creationId xmlns:a16="http://schemas.microsoft.com/office/drawing/2014/main" id="{59A8797A-8F06-4825-BDC5-D537A44A73E5}"/>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3AC2431-9FE5-4826-9A69-E4F5B8641C3B}"/>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8" name="">
            <a:extLst xmlns:a="http://schemas.openxmlformats.org/drawingml/2006/main">
              <a:ext uri="{FF2B5EF4-FFF2-40B4-BE49-F238E27FC236}">
                <a16:creationId xmlns:a16="http://schemas.microsoft.com/office/drawing/2014/main" id="{44F66654-C8BE-4B2B-BA7D-3D6078420F9D}"/>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系统总体架构设计</a:t>
            </a:r>
          </a:p>
        </p:txBody>
      </p:sp>
      <p:sp>
        <p:nvSpPr>
          <p:cNvPr id="9" name="">
            <a:extLst xmlns:a="http://schemas.openxmlformats.org/drawingml/2006/main">
              <a:ext uri="{FF2B5EF4-FFF2-40B4-BE49-F238E27FC236}">
                <a16:creationId xmlns:a16="http://schemas.microsoft.com/office/drawing/2014/main" id="{03AE7E25-39A1-4B6E-BD97-3BBFE46E44B2}"/>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采用分层架构隔离界面、业务、数据与通信，实现清晰职责划分。</a:t>
            </a:r>
          </a:p>
        </p:txBody>
      </p:sp>
      <p:sp>
        <p:nvSpPr>
          <p:cNvPr id="10" name="">
            <a:extLst xmlns:a="http://schemas.openxmlformats.org/drawingml/2006/main">
              <a:ext uri="{FF2B5EF4-FFF2-40B4-BE49-F238E27FC236}">
                <a16:creationId xmlns:a16="http://schemas.microsoft.com/office/drawing/2014/main" id="{5CF04516-E512-4271-AF23-A1B1924A03C1}"/>
              </a:ext>
            </a:extLst>
          </p:cNvPr>
          <p:cNvSpPr>
            <a:spLocks xmlns:a="http://schemas.openxmlformats.org/drawingml/2006/main" noGrp="1"/>
          </p:cNvSpPr>
          <p:nvPr/>
        </p:nvSpPr>
        <p:spPr>
          <a:xfrm xmlns:a="http://schemas.openxmlformats.org/drawingml/2006/main">
            <a:off x="8001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1" name="">
            <a:extLst xmlns:a="http://schemas.openxmlformats.org/drawingml/2006/main">
              <a:ext uri="{FF2B5EF4-FFF2-40B4-BE49-F238E27FC236}">
                <a16:creationId xmlns:a16="http://schemas.microsoft.com/office/drawing/2014/main" id="{8548BBA3-C61F-4010-AD7C-80E7F250BDE6}"/>
              </a:ext>
            </a:extLst>
          </p:cNvPr>
          <p:cNvSpPr>
            <a:spLocks xmlns:a="http://schemas.openxmlformats.org/drawingml/2006/main" noGrp="1"/>
          </p:cNvSpPr>
          <p:nvPr/>
        </p:nvSpPr>
        <p:spPr>
          <a:xfrm xmlns:a="http://schemas.openxmlformats.org/drawingml/2006/main">
            <a:off x="8001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3A3B228-F587-46D5-83A9-33F8137DE6ED}"/>
              </a:ext>
            </a:extLst>
          </p:cNvPr>
          <p:cNvSpPr>
            <a:spLocks xmlns:a="http://schemas.openxmlformats.org/drawingml/2006/main" noGrp="1"/>
          </p:cNvSpPr>
          <p:nvPr/>
        </p:nvSpPr>
        <p:spPr>
          <a:xfrm xmlns:a="http://schemas.openxmlformats.org/drawingml/2006/main">
            <a:off x="10096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3" name="">
            <a:extLst xmlns:a="http://schemas.openxmlformats.org/drawingml/2006/main">
              <a:ext uri="{FF2B5EF4-FFF2-40B4-BE49-F238E27FC236}">
                <a16:creationId xmlns:a16="http://schemas.microsoft.com/office/drawing/2014/main" id="{3DDBFA17-68A9-44C2-AF3F-8760C4ECB273}"/>
              </a:ext>
            </a:extLst>
          </p:cNvPr>
          <p:cNvSpPr>
            <a:spLocks xmlns:a="http://schemas.openxmlformats.org/drawingml/2006/main" noGrp="1"/>
          </p:cNvSpPr>
          <p:nvPr/>
        </p:nvSpPr>
        <p:spPr>
          <a:xfrm xmlns:a="http://schemas.openxmlformats.org/drawingml/2006/main">
            <a:off x="1162050" y="4562475"/>
            <a:ext cx="57150" cy="1143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8EB759B6-386F-4438-B637-B100A1A52A24}"/>
              </a:ext>
            </a:extLst>
          </p:cNvPr>
          <p:cNvSpPr>
            <a:spLocks xmlns:a="http://schemas.openxmlformats.org/drawingml/2006/main" noGrp="1"/>
          </p:cNvSpPr>
          <p:nvPr/>
        </p:nvSpPr>
        <p:spPr>
          <a:xfrm xmlns:a="http://schemas.openxmlformats.org/drawingml/2006/main">
            <a:off x="1247775" y="4486275"/>
            <a:ext cx="57150" cy="1905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B71F762A-9505-4F63-A8DE-32C49493F85B}"/>
              </a:ext>
            </a:extLst>
          </p:cNvPr>
          <p:cNvSpPr>
            <a:spLocks xmlns:a="http://schemas.openxmlformats.org/drawingml/2006/main" noGrp="1"/>
          </p:cNvSpPr>
          <p:nvPr/>
        </p:nvSpPr>
        <p:spPr>
          <a:xfrm xmlns:a="http://schemas.openxmlformats.org/drawingml/2006/main">
            <a:off x="1333500" y="4419600"/>
            <a:ext cx="57150" cy="257175"/>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8D7B5E2F-88AA-4A30-9388-12141E06BBF6}"/>
              </a:ext>
            </a:extLst>
          </p:cNvPr>
          <p:cNvSpPr>
            <a:spLocks xmlns:a="http://schemas.openxmlformats.org/drawingml/2006/main" noGrp="1"/>
          </p:cNvSpPr>
          <p:nvPr/>
        </p:nvSpPr>
        <p:spPr>
          <a:xfrm xmlns:a="http://schemas.openxmlformats.org/drawingml/2006/main">
            <a:off x="16383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表现层</a:t>
            </a:r>
          </a:p>
        </p:txBody>
      </p:sp>
      <p:sp>
        <p:nvSpPr>
          <p:cNvPr id="17" name="">
            <a:extLst xmlns:a="http://schemas.openxmlformats.org/drawingml/2006/main">
              <a:ext uri="{FF2B5EF4-FFF2-40B4-BE49-F238E27FC236}">
                <a16:creationId xmlns:a16="http://schemas.microsoft.com/office/drawing/2014/main" id="{1C7C4053-D6D5-4671-9CFE-BB1A05C8E539}"/>
              </a:ext>
            </a:extLst>
          </p:cNvPr>
          <p:cNvSpPr>
            <a:spLocks xmlns:a="http://schemas.openxmlformats.org/drawingml/2006/main" noGrp="1"/>
          </p:cNvSpPr>
          <p:nvPr/>
        </p:nvSpPr>
        <p:spPr>
          <a:xfrm xmlns:a="http://schemas.openxmlformats.org/drawingml/2006/main">
            <a:off x="10287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WPF + MVVM</a:t>
            </a:r>
          </a:p>
          <a:p xmlns:a="http://schemas.openxmlformats.org/drawingml/2006/main">
            <a:pPr algn="l">
              <a:defRPr sz="1125" b="0">
                <a:solidFill>
                  <a:srgbClr val="101214"/>
                </a:solidFill>
              </a:defRPr>
            </a:pPr>
            <a:r>
              <a:rPr sz="1125" b="0">
                <a:solidFill>
                  <a:srgbClr val="101214"/>
                </a:solidFill>
              </a:rPr>
              <a:t>实现桌面交互，负责仪表盘、2D/3D</a:t>
            </a:r>
          </a:p>
          <a:p xmlns:a="http://schemas.openxmlformats.org/drawingml/2006/main">
            <a:pPr algn="l">
              <a:defRPr sz="1125" b="0">
                <a:solidFill>
                  <a:srgbClr val="101214"/>
                </a:solidFill>
              </a:defRPr>
            </a:pPr>
            <a:r>
              <a:rPr sz="1125" b="0">
                <a:solidFill>
                  <a:srgbClr val="101214"/>
                </a:solidFill>
              </a:rPr>
              <a:t>监控、分组、情景、调度、统计等页面。</a:t>
            </a:r>
          </a:p>
        </p:txBody>
      </p:sp>
      <p:sp>
        <p:nvSpPr>
          <p:cNvPr id="18" name="">
            <a:extLst xmlns:a="http://schemas.openxmlformats.org/drawingml/2006/main">
              <a:ext uri="{FF2B5EF4-FFF2-40B4-BE49-F238E27FC236}">
                <a16:creationId xmlns:a16="http://schemas.microsoft.com/office/drawing/2014/main" id="{A66E2690-B189-4426-ABB0-F1C0D362EFA3}"/>
              </a:ext>
            </a:extLst>
          </p:cNvPr>
          <p:cNvSpPr>
            <a:spLocks xmlns:a="http://schemas.openxmlformats.org/drawingml/2006/main" noGrp="1"/>
          </p:cNvSpPr>
          <p:nvPr/>
        </p:nvSpPr>
        <p:spPr>
          <a:xfrm xmlns:a="http://schemas.openxmlformats.org/drawingml/2006/main">
            <a:off x="441325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9" name="">
            <a:extLst xmlns:a="http://schemas.openxmlformats.org/drawingml/2006/main">
              <a:ext uri="{FF2B5EF4-FFF2-40B4-BE49-F238E27FC236}">
                <a16:creationId xmlns:a16="http://schemas.microsoft.com/office/drawing/2014/main" id="{E26BECF7-21D8-4251-9212-200DFC0C5601}"/>
              </a:ext>
            </a:extLst>
          </p:cNvPr>
          <p:cNvSpPr>
            <a:spLocks xmlns:a="http://schemas.openxmlformats.org/drawingml/2006/main" noGrp="1"/>
          </p:cNvSpPr>
          <p:nvPr/>
        </p:nvSpPr>
        <p:spPr>
          <a:xfrm xmlns:a="http://schemas.openxmlformats.org/drawingml/2006/main">
            <a:off x="441325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8C3BC30-6C0C-415B-ABCE-331036E00A78}"/>
              </a:ext>
            </a:extLst>
          </p:cNvPr>
          <p:cNvSpPr>
            <a:spLocks xmlns:a="http://schemas.openxmlformats.org/drawingml/2006/main" noGrp="1"/>
          </p:cNvSpPr>
          <p:nvPr/>
        </p:nvSpPr>
        <p:spPr>
          <a:xfrm xmlns:a="http://schemas.openxmlformats.org/drawingml/2006/main">
            <a:off x="462280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1" name="">
            <a:extLst xmlns:a="http://schemas.openxmlformats.org/drawingml/2006/main">
              <a:ext uri="{FF2B5EF4-FFF2-40B4-BE49-F238E27FC236}">
                <a16:creationId xmlns:a16="http://schemas.microsoft.com/office/drawing/2014/main" id="{74EC5175-B37F-4C75-87D2-32A5FAF912E7}"/>
              </a:ext>
            </a:extLst>
          </p:cNvPr>
          <p:cNvSpPr>
            <a:spLocks xmlns:a="http://schemas.openxmlformats.org/drawingml/2006/main" noGrp="1"/>
          </p:cNvSpPr>
          <p:nvPr/>
        </p:nvSpPr>
        <p:spPr>
          <a:xfrm xmlns:a="http://schemas.openxmlformats.org/drawingml/2006/main">
            <a:off x="4746625" y="4457700"/>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2" name="">
            <a:extLst xmlns:a="http://schemas.openxmlformats.org/drawingml/2006/main">
              <a:ext uri="{FF2B5EF4-FFF2-40B4-BE49-F238E27FC236}">
                <a16:creationId xmlns:a16="http://schemas.microsoft.com/office/drawing/2014/main" id="{8AC8BF51-E7B7-4156-93BA-625AAF3BA81B}"/>
              </a:ext>
            </a:extLst>
          </p:cNvPr>
          <p:cNvSpPr>
            <a:spLocks xmlns:a="http://schemas.openxmlformats.org/drawingml/2006/main" noGrp="1"/>
          </p:cNvSpPr>
          <p:nvPr/>
        </p:nvSpPr>
        <p:spPr>
          <a:xfrm xmlns:a="http://schemas.openxmlformats.org/drawingml/2006/main">
            <a:off x="4918075" y="4543425"/>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3" name="">
            <a:extLst xmlns:a="http://schemas.openxmlformats.org/drawingml/2006/main">
              <a:ext uri="{FF2B5EF4-FFF2-40B4-BE49-F238E27FC236}">
                <a16:creationId xmlns:a16="http://schemas.microsoft.com/office/drawing/2014/main" id="{E8085F68-BE1F-47E9-8522-6CB0CB283599}"/>
              </a:ext>
            </a:extLst>
          </p:cNvPr>
          <p:cNvSpPr>
            <a:spLocks xmlns:a="http://schemas.openxmlformats.org/drawingml/2006/main" noGrp="1"/>
          </p:cNvSpPr>
          <p:nvPr/>
        </p:nvSpPr>
        <p:spPr>
          <a:xfrm xmlns:a="http://schemas.openxmlformats.org/drawingml/2006/main">
            <a:off x="4832350" y="4524375"/>
            <a:ext cx="180975" cy="28575"/>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A244EB30-94CD-4304-A442-F6907ACFCEBA}"/>
              </a:ext>
            </a:extLst>
          </p:cNvPr>
          <p:cNvSpPr>
            <a:spLocks xmlns:a="http://schemas.openxmlformats.org/drawingml/2006/main" noGrp="1"/>
          </p:cNvSpPr>
          <p:nvPr/>
        </p:nvSpPr>
        <p:spPr>
          <a:xfrm xmlns:a="http://schemas.openxmlformats.org/drawingml/2006/main">
            <a:off x="525145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业务层</a:t>
            </a:r>
          </a:p>
        </p:txBody>
      </p:sp>
      <p:sp>
        <p:nvSpPr>
          <p:cNvPr id="25" name="">
            <a:extLst xmlns:a="http://schemas.openxmlformats.org/drawingml/2006/main">
              <a:ext uri="{FF2B5EF4-FFF2-40B4-BE49-F238E27FC236}">
                <a16:creationId xmlns:a16="http://schemas.microsoft.com/office/drawing/2014/main" id="{43394FF3-114C-45B4-8BDB-C6ADDD184BF2}"/>
              </a:ext>
            </a:extLst>
          </p:cNvPr>
          <p:cNvSpPr>
            <a:spLocks xmlns:a="http://schemas.openxmlformats.org/drawingml/2006/main" noGrp="1"/>
          </p:cNvSpPr>
          <p:nvPr/>
        </p:nvSpPr>
        <p:spPr>
          <a:xfrm xmlns:a="http://schemas.openxmlformats.org/drawingml/2006/main">
            <a:off x="464185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LightCircuitService、GroupService、SceneModeService、ScheduleService、EnergyService</a:t>
            </a:r>
          </a:p>
          <a:p xmlns:a="http://schemas.openxmlformats.org/drawingml/2006/main">
            <a:pPr algn="l">
              <a:defRPr sz="1125" b="0">
                <a:solidFill>
                  <a:srgbClr val="101214"/>
                </a:solidFill>
              </a:defRPr>
            </a:pPr>
            <a:r>
              <a:rPr sz="1125" b="0">
                <a:solidFill>
                  <a:srgbClr val="101214"/>
                </a:solidFill>
              </a:rPr>
              <a:t>共同实现控制闭环。</a:t>
            </a:r>
          </a:p>
        </p:txBody>
      </p:sp>
      <p:sp>
        <p:nvSpPr>
          <p:cNvPr id="26" name="">
            <a:extLst xmlns:a="http://schemas.openxmlformats.org/drawingml/2006/main">
              <a:ext uri="{FF2B5EF4-FFF2-40B4-BE49-F238E27FC236}">
                <a16:creationId xmlns:a16="http://schemas.microsoft.com/office/drawing/2014/main" id="{5FB26A53-931F-4924-830F-5B8587AF7795}"/>
              </a:ext>
            </a:extLst>
          </p:cNvPr>
          <p:cNvSpPr>
            <a:spLocks xmlns:a="http://schemas.openxmlformats.org/drawingml/2006/main" noGrp="1"/>
          </p:cNvSpPr>
          <p:nvPr/>
        </p:nvSpPr>
        <p:spPr>
          <a:xfrm xmlns:a="http://schemas.openxmlformats.org/drawingml/2006/main">
            <a:off x="80264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7" name="">
            <a:extLst xmlns:a="http://schemas.openxmlformats.org/drawingml/2006/main">
              <a:ext uri="{FF2B5EF4-FFF2-40B4-BE49-F238E27FC236}">
                <a16:creationId xmlns:a16="http://schemas.microsoft.com/office/drawing/2014/main" id="{E311CAC2-67D9-4733-B005-7B5458583D05}"/>
              </a:ext>
            </a:extLst>
          </p:cNvPr>
          <p:cNvSpPr>
            <a:spLocks xmlns:a="http://schemas.openxmlformats.org/drawingml/2006/main" noGrp="1"/>
          </p:cNvSpPr>
          <p:nvPr/>
        </p:nvSpPr>
        <p:spPr>
          <a:xfrm xmlns:a="http://schemas.openxmlformats.org/drawingml/2006/main">
            <a:off x="80264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1F7952C6-6AA0-47BE-BFDB-0EB8B37EE6C3}"/>
              </a:ext>
            </a:extLst>
          </p:cNvPr>
          <p:cNvSpPr>
            <a:spLocks xmlns:a="http://schemas.openxmlformats.org/drawingml/2006/main" noGrp="1"/>
          </p:cNvSpPr>
          <p:nvPr/>
        </p:nvSpPr>
        <p:spPr>
          <a:xfrm xmlns:a="http://schemas.openxmlformats.org/drawingml/2006/main">
            <a:off x="82359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9" name="">
            <a:extLst xmlns:a="http://schemas.openxmlformats.org/drawingml/2006/main">
              <a:ext uri="{FF2B5EF4-FFF2-40B4-BE49-F238E27FC236}">
                <a16:creationId xmlns:a16="http://schemas.microsoft.com/office/drawing/2014/main" id="{0044B24D-4DD4-4339-AB68-C33F0A3011EB}"/>
              </a:ext>
            </a:extLst>
          </p:cNvPr>
          <p:cNvSpPr>
            <a:spLocks xmlns:a="http://schemas.openxmlformats.org/drawingml/2006/main" noGrp="1"/>
          </p:cNvSpPr>
          <p:nvPr/>
        </p:nvSpPr>
        <p:spPr>
          <a:xfrm xmlns:a="http://schemas.openxmlformats.org/drawingml/2006/main">
            <a:off x="8359775" y="4429125"/>
            <a:ext cx="247650" cy="123825"/>
          </a:xfrm>
          <a:prstGeom xmlns:a="http://schemas.openxmlformats.org/drawingml/2006/main" prst="roundRect">
            <a:avLst>
              <a:gd name="adj" fmla="val 50000"/>
            </a:avLst>
          </a:prstGeom>
          <a:solidFill xmlns:a="http://schemas.openxmlformats.org/drawingml/2006/main">
            <a:srgbClr val="27C47D"/>
          </a:solidFill>
          <a:ln xmlns:a="http://schemas.openxmlformats.org/drawingml/2006/main" w="9525">
            <a:solidFill>
              <a:srgbClr val="101214"/>
            </a:solidFill>
            <a:prstDash val="solid"/>
          </a:ln>
        </p:spPr>
      </p:sp>
      <p:sp>
        <p:nvSpPr>
          <p:cNvPr id="30" name="">
            <a:extLst xmlns:a="http://schemas.openxmlformats.org/drawingml/2006/main">
              <a:ext uri="{FF2B5EF4-FFF2-40B4-BE49-F238E27FC236}">
                <a16:creationId xmlns:a16="http://schemas.microsoft.com/office/drawing/2014/main" id="{ADE23813-4563-49F5-AA09-BC3A38FC5EF0}"/>
              </a:ext>
            </a:extLst>
          </p:cNvPr>
          <p:cNvSpPr>
            <a:spLocks xmlns:a="http://schemas.openxmlformats.org/drawingml/2006/main" noGrp="1"/>
          </p:cNvSpPr>
          <p:nvPr/>
        </p:nvSpPr>
        <p:spPr>
          <a:xfrm xmlns:a="http://schemas.openxmlformats.org/drawingml/2006/main">
            <a:off x="8407400" y="4514850"/>
            <a:ext cx="247650" cy="123825"/>
          </a:xfrm>
          <a:prstGeom xmlns:a="http://schemas.openxmlformats.org/drawingml/2006/main" prst="roundRect">
            <a:avLst>
              <a:gd name="adj" fmla="val 50000"/>
            </a:avLst>
          </a:prstGeom>
          <a:solidFill xmlns:a="http://schemas.openxmlformats.org/drawingml/2006/main">
            <a:srgbClr val="D7A83D"/>
          </a:solidFill>
          <a:ln xmlns:a="http://schemas.openxmlformats.org/drawingml/2006/main" w="9525">
            <a:solidFill>
              <a:srgbClr val="101214"/>
            </a:solidFill>
            <a:prstDash val="solid"/>
          </a:ln>
        </p:spPr>
      </p:sp>
      <p:sp>
        <p:nvSpPr>
          <p:cNvPr id="31" name="">
            <a:extLst xmlns:a="http://schemas.openxmlformats.org/drawingml/2006/main">
              <a:ext uri="{FF2B5EF4-FFF2-40B4-BE49-F238E27FC236}">
                <a16:creationId xmlns:a16="http://schemas.microsoft.com/office/drawing/2014/main" id="{9ACE8812-BF50-46C6-88E1-3A8ADC51CC1F}"/>
              </a:ext>
            </a:extLst>
          </p:cNvPr>
          <p:cNvSpPr>
            <a:spLocks xmlns:a="http://schemas.openxmlformats.org/drawingml/2006/main" noGrp="1"/>
          </p:cNvSpPr>
          <p:nvPr/>
        </p:nvSpPr>
        <p:spPr>
          <a:xfrm xmlns:a="http://schemas.openxmlformats.org/drawingml/2006/main">
            <a:off x="8455025" y="4600575"/>
            <a:ext cx="190500" cy="95250"/>
          </a:xfrm>
          <a:prstGeom xmlns:a="http://schemas.openxmlformats.org/drawingml/2006/main" prst="roundRect">
            <a:avLst>
              <a:gd name="adj" fmla="val 50000"/>
            </a:avLst>
          </a:prstGeom>
          <a:solidFill xmlns:a="http://schemas.openxmlformats.org/drawingml/2006/main">
            <a:srgbClr val="E86F5B"/>
          </a:solidFill>
          <a:ln xmlns:a="http://schemas.openxmlformats.org/drawingml/2006/main" w="9525">
            <a:solidFill>
              <a:srgbClr val="101214"/>
            </a:solidFill>
            <a:prstDash val="solid"/>
          </a:ln>
        </p:spPr>
      </p:sp>
      <p:sp>
        <p:nvSpPr>
          <p:cNvPr id="32" name="">
            <a:extLst xmlns:a="http://schemas.openxmlformats.org/drawingml/2006/main">
              <a:ext uri="{FF2B5EF4-FFF2-40B4-BE49-F238E27FC236}">
                <a16:creationId xmlns:a16="http://schemas.microsoft.com/office/drawing/2014/main" id="{2EEF0C80-F6E2-4EAE-B55C-A03C7407FE2D}"/>
              </a:ext>
            </a:extLst>
          </p:cNvPr>
          <p:cNvSpPr>
            <a:spLocks xmlns:a="http://schemas.openxmlformats.org/drawingml/2006/main" noGrp="1"/>
          </p:cNvSpPr>
          <p:nvPr/>
        </p:nvSpPr>
        <p:spPr>
          <a:xfrm xmlns:a="http://schemas.openxmlformats.org/drawingml/2006/main">
            <a:off x="88646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基础设施层</a:t>
            </a:r>
          </a:p>
        </p:txBody>
      </p:sp>
      <p:sp>
        <p:nvSpPr>
          <p:cNvPr id="33" name="">
            <a:extLst xmlns:a="http://schemas.openxmlformats.org/drawingml/2006/main">
              <a:ext uri="{FF2B5EF4-FFF2-40B4-BE49-F238E27FC236}">
                <a16:creationId xmlns:a16="http://schemas.microsoft.com/office/drawing/2014/main" id="{03ABADC4-7F14-4287-BC56-A04C5C8DD41B}"/>
              </a:ext>
            </a:extLst>
          </p:cNvPr>
          <p:cNvSpPr>
            <a:spLocks xmlns:a="http://schemas.openxmlformats.org/drawingml/2006/main" noGrp="1"/>
          </p:cNvSpPr>
          <p:nvPr/>
        </p:nvSpPr>
        <p:spPr>
          <a:xfrm xmlns:a="http://schemas.openxmlformats.org/drawingml/2006/main">
            <a:off x="82550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SQLite + EF Core</a:t>
            </a:r>
          </a:p>
          <a:p xmlns:a="http://schemas.openxmlformats.org/drawingml/2006/main">
            <a:pPr algn="l">
              <a:defRPr sz="1125" b="0">
                <a:solidFill>
                  <a:srgbClr val="101214"/>
                </a:solidFill>
              </a:defRPr>
            </a:pPr>
            <a:r>
              <a:rPr sz="1125" b="0">
                <a:solidFill>
                  <a:srgbClr val="101214"/>
                </a:solidFill>
              </a:rPr>
              <a:t>负责持久化，CommunicationService</a:t>
            </a:r>
          </a:p>
          <a:p xmlns:a="http://schemas.openxmlformats.org/drawingml/2006/main">
            <a:pPr algn="l">
              <a:defRPr sz="1125" b="0">
                <a:solidFill>
                  <a:srgbClr val="101214"/>
                </a:solidFill>
              </a:defRPr>
            </a:pPr>
            <a:r>
              <a:rPr sz="1125" b="0">
                <a:solidFill>
                  <a:srgbClr val="101214"/>
                </a:solidFill>
              </a:rPr>
              <a:t>统一通信入口，Quartz 承担后台调度。</a:t>
            </a:r>
          </a:p>
        </p:txBody>
      </p:sp>
      <p:sp>
        <p:nvSpPr>
          <p:cNvPr id="34" name="">
            <a:extLst xmlns:a="http://schemas.openxmlformats.org/drawingml/2006/main">
              <a:ext uri="{FF2B5EF4-FFF2-40B4-BE49-F238E27FC236}">
                <a16:creationId xmlns:a16="http://schemas.microsoft.com/office/drawing/2014/main" id="{2C3BB93F-62A6-4E1B-837E-082CEACC409A}"/>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Generated art plate is used as visual direction; all meaningful copy and structure are editable PowerPoint objects.</a:t>
            </a:r>
          </a:p>
        </p:txBody>
      </p:sp>
    </p:spTree>
    <p:extLst>
      <p:ext uri="{BB962C8B-B14F-4D97-AF65-F5344CB8AC3E}">
        <p14:creationId xmlns:p14="http://schemas.microsoft.com/office/powerpoint/2010/main" val="1031516581"/>
      </p:ext>
    </p:extLst>
  </p:cSld>
</p:sld>
</file>

<file path=ppt/slides/slide5.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60678D0-8F19-458D-916B-46DD29A5E40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f4fee206d854356"/>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56F0CF8-A787-4971-838D-E0E927BFE8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2157"/>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9EE7983-DC91-4F26-BDDC-E35EF5727D98}"/>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SECTION 05</a:t>
            </a:r>
          </a:p>
        </p:txBody>
      </p:sp>
      <p:sp>
        <p:nvSpPr>
          <p:cNvPr id="5" name="">
            <a:extLst xmlns:a="http://schemas.openxmlformats.org/drawingml/2006/main">
              <a:ext uri="{FF2B5EF4-FFF2-40B4-BE49-F238E27FC236}">
                <a16:creationId xmlns:a16="http://schemas.microsoft.com/office/drawing/2014/main" id="{20E08173-752E-427B-B2C6-A400CB467680}"/>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05 / 10</a:t>
            </a:r>
          </a:p>
        </p:txBody>
      </p:sp>
      <p:sp>
        <p:nvSpPr>
          <p:cNvPr id="6" name="">
            <a:extLst xmlns:a="http://schemas.openxmlformats.org/drawingml/2006/main">
              <a:ext uri="{FF2B5EF4-FFF2-40B4-BE49-F238E27FC236}">
                <a16:creationId xmlns:a16="http://schemas.microsoft.com/office/drawing/2014/main" id="{AB2C0366-8380-4358-9C81-5F2F61ABDA0C}"/>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EEA5937-F2D6-4BD0-8F4F-8EE4E51987E9}"/>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8" name="">
            <a:extLst xmlns:a="http://schemas.openxmlformats.org/drawingml/2006/main">
              <a:ext uri="{FF2B5EF4-FFF2-40B4-BE49-F238E27FC236}">
                <a16:creationId xmlns:a16="http://schemas.microsoft.com/office/drawing/2014/main" id="{40BCD594-37C4-4A1D-9BE6-6AF3103B226B}"/>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数据库与核心实体设计</a:t>
            </a:r>
          </a:p>
        </p:txBody>
      </p:sp>
      <p:sp>
        <p:nvSpPr>
          <p:cNvPr id="9" name="">
            <a:extLst xmlns:a="http://schemas.openxmlformats.org/drawingml/2006/main">
              <a:ext uri="{FF2B5EF4-FFF2-40B4-BE49-F238E27FC236}">
                <a16:creationId xmlns:a16="http://schemas.microsoft.com/office/drawing/2014/main" id="{6CCDCE14-A785-4CB4-A217-9AD05DC11CA3}"/>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围绕楼层、区域、回路、控制策略与运行记录组织核心数据模型。</a:t>
            </a:r>
          </a:p>
        </p:txBody>
      </p:sp>
      <p:sp>
        <p:nvSpPr>
          <p:cNvPr id="10" name="">
            <a:extLst xmlns:a="http://schemas.openxmlformats.org/drawingml/2006/main">
              <a:ext uri="{FF2B5EF4-FFF2-40B4-BE49-F238E27FC236}">
                <a16:creationId xmlns:a16="http://schemas.microsoft.com/office/drawing/2014/main" id="{0D8AA8F5-9570-4362-B6FA-45BB61FF9500}"/>
              </a:ext>
            </a:extLst>
          </p:cNvPr>
          <p:cNvSpPr>
            <a:spLocks xmlns:a="http://schemas.openxmlformats.org/drawingml/2006/main" noGrp="1"/>
          </p:cNvSpPr>
          <p:nvPr/>
        </p:nvSpPr>
        <p:spPr>
          <a:xfrm xmlns:a="http://schemas.openxmlformats.org/drawingml/2006/main">
            <a:off x="8001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1" name="">
            <a:extLst xmlns:a="http://schemas.openxmlformats.org/drawingml/2006/main">
              <a:ext uri="{FF2B5EF4-FFF2-40B4-BE49-F238E27FC236}">
                <a16:creationId xmlns:a16="http://schemas.microsoft.com/office/drawing/2014/main" id="{53690406-4EC4-46B1-AE13-7A1394DA6902}"/>
              </a:ext>
            </a:extLst>
          </p:cNvPr>
          <p:cNvSpPr>
            <a:spLocks xmlns:a="http://schemas.openxmlformats.org/drawingml/2006/main" noGrp="1"/>
          </p:cNvSpPr>
          <p:nvPr/>
        </p:nvSpPr>
        <p:spPr>
          <a:xfrm xmlns:a="http://schemas.openxmlformats.org/drawingml/2006/main">
            <a:off x="8001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9F5126E-FE3A-43DE-A9C8-7F17B2744248}"/>
              </a:ext>
            </a:extLst>
          </p:cNvPr>
          <p:cNvSpPr>
            <a:spLocks xmlns:a="http://schemas.openxmlformats.org/drawingml/2006/main" noGrp="1"/>
          </p:cNvSpPr>
          <p:nvPr/>
        </p:nvSpPr>
        <p:spPr>
          <a:xfrm xmlns:a="http://schemas.openxmlformats.org/drawingml/2006/main">
            <a:off x="10096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3" name="">
            <a:extLst xmlns:a="http://schemas.openxmlformats.org/drawingml/2006/main">
              <a:ext uri="{FF2B5EF4-FFF2-40B4-BE49-F238E27FC236}">
                <a16:creationId xmlns:a16="http://schemas.microsoft.com/office/drawing/2014/main" id="{49F8EF3F-D29D-4D4F-91AE-E83FABF2CB12}"/>
              </a:ext>
            </a:extLst>
          </p:cNvPr>
          <p:cNvSpPr>
            <a:spLocks xmlns:a="http://schemas.openxmlformats.org/drawingml/2006/main" noGrp="1"/>
          </p:cNvSpPr>
          <p:nvPr/>
        </p:nvSpPr>
        <p:spPr>
          <a:xfrm xmlns:a="http://schemas.openxmlformats.org/drawingml/2006/main">
            <a:off x="1162050" y="4562475"/>
            <a:ext cx="57150" cy="1143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AEC7E3A-CDF5-4558-926C-3E0694A24B60}"/>
              </a:ext>
            </a:extLst>
          </p:cNvPr>
          <p:cNvSpPr>
            <a:spLocks xmlns:a="http://schemas.openxmlformats.org/drawingml/2006/main" noGrp="1"/>
          </p:cNvSpPr>
          <p:nvPr/>
        </p:nvSpPr>
        <p:spPr>
          <a:xfrm xmlns:a="http://schemas.openxmlformats.org/drawingml/2006/main">
            <a:off x="1247775" y="4486275"/>
            <a:ext cx="57150" cy="1905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794200E6-4371-4CC8-86A1-D27A76739043}"/>
              </a:ext>
            </a:extLst>
          </p:cNvPr>
          <p:cNvSpPr>
            <a:spLocks xmlns:a="http://schemas.openxmlformats.org/drawingml/2006/main" noGrp="1"/>
          </p:cNvSpPr>
          <p:nvPr/>
        </p:nvSpPr>
        <p:spPr>
          <a:xfrm xmlns:a="http://schemas.openxmlformats.org/drawingml/2006/main">
            <a:off x="1333500" y="4419600"/>
            <a:ext cx="57150" cy="257175"/>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0B6B087-F508-44A2-A607-C2034607F4DD}"/>
              </a:ext>
            </a:extLst>
          </p:cNvPr>
          <p:cNvSpPr>
            <a:spLocks xmlns:a="http://schemas.openxmlformats.org/drawingml/2006/main" noGrp="1"/>
          </p:cNvSpPr>
          <p:nvPr/>
        </p:nvSpPr>
        <p:spPr>
          <a:xfrm xmlns:a="http://schemas.openxmlformats.org/drawingml/2006/main">
            <a:off x="16383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空间实体</a:t>
            </a:r>
          </a:p>
        </p:txBody>
      </p:sp>
      <p:sp>
        <p:nvSpPr>
          <p:cNvPr id="17" name="">
            <a:extLst xmlns:a="http://schemas.openxmlformats.org/drawingml/2006/main">
              <a:ext uri="{FF2B5EF4-FFF2-40B4-BE49-F238E27FC236}">
                <a16:creationId xmlns:a16="http://schemas.microsoft.com/office/drawing/2014/main" id="{2DD529BB-0EE2-4093-A01D-DF4DAD79F4E8}"/>
              </a:ext>
            </a:extLst>
          </p:cNvPr>
          <p:cNvSpPr>
            <a:spLocks xmlns:a="http://schemas.openxmlformats.org/drawingml/2006/main" noGrp="1"/>
          </p:cNvSpPr>
          <p:nvPr/>
        </p:nvSpPr>
        <p:spPr>
          <a:xfrm xmlns:a="http://schemas.openxmlformats.org/drawingml/2006/main">
            <a:off x="10287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Floor、Area、LightCircuit</a:t>
            </a:r>
          </a:p>
          <a:p xmlns:a="http://schemas.openxmlformats.org/drawingml/2006/main">
            <a:pPr algn="l">
              <a:defRPr sz="1125" b="0">
                <a:solidFill>
                  <a:srgbClr val="101214"/>
                </a:solidFill>
              </a:defRPr>
            </a:pPr>
            <a:r>
              <a:rPr sz="1125" b="0">
                <a:solidFill>
                  <a:srgbClr val="101214"/>
                </a:solidFill>
              </a:rPr>
              <a:t>描述楼宇结构与照明回路位置，为 2D/3D</a:t>
            </a:r>
          </a:p>
          <a:p xmlns:a="http://schemas.openxmlformats.org/drawingml/2006/main">
            <a:pPr algn="l">
              <a:defRPr sz="1125" b="0">
                <a:solidFill>
                  <a:srgbClr val="101214"/>
                </a:solidFill>
              </a:defRPr>
            </a:pPr>
            <a:r>
              <a:rPr sz="1125" b="0">
                <a:solidFill>
                  <a:srgbClr val="101214"/>
                </a:solidFill>
              </a:rPr>
              <a:t>视图提供布局基础。</a:t>
            </a:r>
          </a:p>
        </p:txBody>
      </p:sp>
      <p:sp>
        <p:nvSpPr>
          <p:cNvPr id="18" name="">
            <a:extLst xmlns:a="http://schemas.openxmlformats.org/drawingml/2006/main">
              <a:ext uri="{FF2B5EF4-FFF2-40B4-BE49-F238E27FC236}">
                <a16:creationId xmlns:a16="http://schemas.microsoft.com/office/drawing/2014/main" id="{8513D920-3B74-43D3-AAAE-ECA657D3970F}"/>
              </a:ext>
            </a:extLst>
          </p:cNvPr>
          <p:cNvSpPr>
            <a:spLocks xmlns:a="http://schemas.openxmlformats.org/drawingml/2006/main" noGrp="1"/>
          </p:cNvSpPr>
          <p:nvPr/>
        </p:nvSpPr>
        <p:spPr>
          <a:xfrm xmlns:a="http://schemas.openxmlformats.org/drawingml/2006/main">
            <a:off x="441325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9" name="">
            <a:extLst xmlns:a="http://schemas.openxmlformats.org/drawingml/2006/main">
              <a:ext uri="{FF2B5EF4-FFF2-40B4-BE49-F238E27FC236}">
                <a16:creationId xmlns:a16="http://schemas.microsoft.com/office/drawing/2014/main" id="{AC08341C-62AE-4EAA-8A67-7ACE6CFDF1C9}"/>
              </a:ext>
            </a:extLst>
          </p:cNvPr>
          <p:cNvSpPr>
            <a:spLocks xmlns:a="http://schemas.openxmlformats.org/drawingml/2006/main" noGrp="1"/>
          </p:cNvSpPr>
          <p:nvPr/>
        </p:nvSpPr>
        <p:spPr>
          <a:xfrm xmlns:a="http://schemas.openxmlformats.org/drawingml/2006/main">
            <a:off x="441325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43460F25-3541-4110-AB28-E91620C193DA}"/>
              </a:ext>
            </a:extLst>
          </p:cNvPr>
          <p:cNvSpPr>
            <a:spLocks xmlns:a="http://schemas.openxmlformats.org/drawingml/2006/main" noGrp="1"/>
          </p:cNvSpPr>
          <p:nvPr/>
        </p:nvSpPr>
        <p:spPr>
          <a:xfrm xmlns:a="http://schemas.openxmlformats.org/drawingml/2006/main">
            <a:off x="462280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1" name="">
            <a:extLst xmlns:a="http://schemas.openxmlformats.org/drawingml/2006/main">
              <a:ext uri="{FF2B5EF4-FFF2-40B4-BE49-F238E27FC236}">
                <a16:creationId xmlns:a16="http://schemas.microsoft.com/office/drawing/2014/main" id="{E1C802A4-CDBD-43D0-9A41-4EB18BECF857}"/>
              </a:ext>
            </a:extLst>
          </p:cNvPr>
          <p:cNvSpPr>
            <a:spLocks xmlns:a="http://schemas.openxmlformats.org/drawingml/2006/main" noGrp="1"/>
          </p:cNvSpPr>
          <p:nvPr/>
        </p:nvSpPr>
        <p:spPr>
          <a:xfrm xmlns:a="http://schemas.openxmlformats.org/drawingml/2006/main">
            <a:off x="4746625" y="4457700"/>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2" name="">
            <a:extLst xmlns:a="http://schemas.openxmlformats.org/drawingml/2006/main">
              <a:ext uri="{FF2B5EF4-FFF2-40B4-BE49-F238E27FC236}">
                <a16:creationId xmlns:a16="http://schemas.microsoft.com/office/drawing/2014/main" id="{997265BE-5AEB-4E98-B25A-0CAFD837B723}"/>
              </a:ext>
            </a:extLst>
          </p:cNvPr>
          <p:cNvSpPr>
            <a:spLocks xmlns:a="http://schemas.openxmlformats.org/drawingml/2006/main" noGrp="1"/>
          </p:cNvSpPr>
          <p:nvPr/>
        </p:nvSpPr>
        <p:spPr>
          <a:xfrm xmlns:a="http://schemas.openxmlformats.org/drawingml/2006/main">
            <a:off x="4918075" y="4543425"/>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3" name="">
            <a:extLst xmlns:a="http://schemas.openxmlformats.org/drawingml/2006/main">
              <a:ext uri="{FF2B5EF4-FFF2-40B4-BE49-F238E27FC236}">
                <a16:creationId xmlns:a16="http://schemas.microsoft.com/office/drawing/2014/main" id="{3F16C2C5-A05E-4BF0-A4AA-D497F3AC4526}"/>
              </a:ext>
            </a:extLst>
          </p:cNvPr>
          <p:cNvSpPr>
            <a:spLocks xmlns:a="http://schemas.openxmlformats.org/drawingml/2006/main" noGrp="1"/>
          </p:cNvSpPr>
          <p:nvPr/>
        </p:nvSpPr>
        <p:spPr>
          <a:xfrm xmlns:a="http://schemas.openxmlformats.org/drawingml/2006/main">
            <a:off x="4832350" y="4524375"/>
            <a:ext cx="180975" cy="28575"/>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57B89436-FC28-43D3-8142-0015CEA5B861}"/>
              </a:ext>
            </a:extLst>
          </p:cNvPr>
          <p:cNvSpPr>
            <a:spLocks xmlns:a="http://schemas.openxmlformats.org/drawingml/2006/main" noGrp="1"/>
          </p:cNvSpPr>
          <p:nvPr/>
        </p:nvSpPr>
        <p:spPr>
          <a:xfrm xmlns:a="http://schemas.openxmlformats.org/drawingml/2006/main">
            <a:off x="525145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控制实体</a:t>
            </a:r>
          </a:p>
        </p:txBody>
      </p:sp>
      <p:sp>
        <p:nvSpPr>
          <p:cNvPr id="25" name="">
            <a:extLst xmlns:a="http://schemas.openxmlformats.org/drawingml/2006/main">
              <a:ext uri="{FF2B5EF4-FFF2-40B4-BE49-F238E27FC236}">
                <a16:creationId xmlns:a16="http://schemas.microsoft.com/office/drawing/2014/main" id="{12740786-343C-4B78-BFBB-3DCEB12D0610}"/>
              </a:ext>
            </a:extLst>
          </p:cNvPr>
          <p:cNvSpPr>
            <a:spLocks xmlns:a="http://schemas.openxmlformats.org/drawingml/2006/main" noGrp="1"/>
          </p:cNvSpPr>
          <p:nvPr/>
        </p:nvSpPr>
        <p:spPr>
          <a:xfrm xmlns:a="http://schemas.openxmlformats.org/drawingml/2006/main">
            <a:off x="464185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LightGroup、SceneMode、Schedule</a:t>
            </a:r>
          </a:p>
          <a:p xmlns:a="http://schemas.openxmlformats.org/drawingml/2006/main">
            <a:pPr algn="l">
              <a:defRPr sz="1125" b="0">
                <a:solidFill>
                  <a:srgbClr val="101214"/>
                </a:solidFill>
              </a:defRPr>
            </a:pPr>
            <a:r>
              <a:rPr sz="1125" b="0">
                <a:solidFill>
                  <a:srgbClr val="101214"/>
                </a:solidFill>
              </a:rPr>
              <a:t>描述批量控制、情景模式与定时调度策略。</a:t>
            </a:r>
          </a:p>
        </p:txBody>
      </p:sp>
      <p:sp>
        <p:nvSpPr>
          <p:cNvPr id="26" name="">
            <a:extLst xmlns:a="http://schemas.openxmlformats.org/drawingml/2006/main">
              <a:ext uri="{FF2B5EF4-FFF2-40B4-BE49-F238E27FC236}">
                <a16:creationId xmlns:a16="http://schemas.microsoft.com/office/drawing/2014/main" id="{92DD3982-F17B-4542-A490-B54885EC9C82}"/>
              </a:ext>
            </a:extLst>
          </p:cNvPr>
          <p:cNvSpPr>
            <a:spLocks xmlns:a="http://schemas.openxmlformats.org/drawingml/2006/main" noGrp="1"/>
          </p:cNvSpPr>
          <p:nvPr/>
        </p:nvSpPr>
        <p:spPr>
          <a:xfrm xmlns:a="http://schemas.openxmlformats.org/drawingml/2006/main">
            <a:off x="80264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7" name="">
            <a:extLst xmlns:a="http://schemas.openxmlformats.org/drawingml/2006/main">
              <a:ext uri="{FF2B5EF4-FFF2-40B4-BE49-F238E27FC236}">
                <a16:creationId xmlns:a16="http://schemas.microsoft.com/office/drawing/2014/main" id="{D743CFB4-A218-4E29-BE43-0CAD88DF8897}"/>
              </a:ext>
            </a:extLst>
          </p:cNvPr>
          <p:cNvSpPr>
            <a:spLocks xmlns:a="http://schemas.openxmlformats.org/drawingml/2006/main" noGrp="1"/>
          </p:cNvSpPr>
          <p:nvPr/>
        </p:nvSpPr>
        <p:spPr>
          <a:xfrm xmlns:a="http://schemas.openxmlformats.org/drawingml/2006/main">
            <a:off x="80264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261C9C5B-CC4D-4207-BCDA-A3C271128170}"/>
              </a:ext>
            </a:extLst>
          </p:cNvPr>
          <p:cNvSpPr>
            <a:spLocks xmlns:a="http://schemas.openxmlformats.org/drawingml/2006/main" noGrp="1"/>
          </p:cNvSpPr>
          <p:nvPr/>
        </p:nvSpPr>
        <p:spPr>
          <a:xfrm xmlns:a="http://schemas.openxmlformats.org/drawingml/2006/main">
            <a:off x="82359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9" name="">
            <a:extLst xmlns:a="http://schemas.openxmlformats.org/drawingml/2006/main">
              <a:ext uri="{FF2B5EF4-FFF2-40B4-BE49-F238E27FC236}">
                <a16:creationId xmlns:a16="http://schemas.microsoft.com/office/drawing/2014/main" id="{7F2D4AFC-78F0-4D95-8242-F1002C9E8EC9}"/>
              </a:ext>
            </a:extLst>
          </p:cNvPr>
          <p:cNvSpPr>
            <a:spLocks xmlns:a="http://schemas.openxmlformats.org/drawingml/2006/main" noGrp="1"/>
          </p:cNvSpPr>
          <p:nvPr/>
        </p:nvSpPr>
        <p:spPr>
          <a:xfrm xmlns:a="http://schemas.openxmlformats.org/drawingml/2006/main">
            <a:off x="8359775" y="4429125"/>
            <a:ext cx="247650" cy="123825"/>
          </a:xfrm>
          <a:prstGeom xmlns:a="http://schemas.openxmlformats.org/drawingml/2006/main" prst="roundRect">
            <a:avLst>
              <a:gd name="adj" fmla="val 50000"/>
            </a:avLst>
          </a:prstGeom>
          <a:solidFill xmlns:a="http://schemas.openxmlformats.org/drawingml/2006/main">
            <a:srgbClr val="27C47D"/>
          </a:solidFill>
          <a:ln xmlns:a="http://schemas.openxmlformats.org/drawingml/2006/main" w="9525">
            <a:solidFill>
              <a:srgbClr val="101214"/>
            </a:solidFill>
            <a:prstDash val="solid"/>
          </a:ln>
        </p:spPr>
      </p:sp>
      <p:sp>
        <p:nvSpPr>
          <p:cNvPr id="30" name="">
            <a:extLst xmlns:a="http://schemas.openxmlformats.org/drawingml/2006/main">
              <a:ext uri="{FF2B5EF4-FFF2-40B4-BE49-F238E27FC236}">
                <a16:creationId xmlns:a16="http://schemas.microsoft.com/office/drawing/2014/main" id="{65591B25-DACE-4206-B47C-4A2B62C1AD69}"/>
              </a:ext>
            </a:extLst>
          </p:cNvPr>
          <p:cNvSpPr>
            <a:spLocks xmlns:a="http://schemas.openxmlformats.org/drawingml/2006/main" noGrp="1"/>
          </p:cNvSpPr>
          <p:nvPr/>
        </p:nvSpPr>
        <p:spPr>
          <a:xfrm xmlns:a="http://schemas.openxmlformats.org/drawingml/2006/main">
            <a:off x="8407400" y="4514850"/>
            <a:ext cx="247650" cy="123825"/>
          </a:xfrm>
          <a:prstGeom xmlns:a="http://schemas.openxmlformats.org/drawingml/2006/main" prst="roundRect">
            <a:avLst>
              <a:gd name="adj" fmla="val 50000"/>
            </a:avLst>
          </a:prstGeom>
          <a:solidFill xmlns:a="http://schemas.openxmlformats.org/drawingml/2006/main">
            <a:srgbClr val="D7A83D"/>
          </a:solidFill>
          <a:ln xmlns:a="http://schemas.openxmlformats.org/drawingml/2006/main" w="9525">
            <a:solidFill>
              <a:srgbClr val="101214"/>
            </a:solidFill>
            <a:prstDash val="solid"/>
          </a:ln>
        </p:spPr>
      </p:sp>
      <p:sp>
        <p:nvSpPr>
          <p:cNvPr id="31" name="">
            <a:extLst xmlns:a="http://schemas.openxmlformats.org/drawingml/2006/main">
              <a:ext uri="{FF2B5EF4-FFF2-40B4-BE49-F238E27FC236}">
                <a16:creationId xmlns:a16="http://schemas.microsoft.com/office/drawing/2014/main" id="{10944754-DE9D-4616-A37C-2AE56DCB21E4}"/>
              </a:ext>
            </a:extLst>
          </p:cNvPr>
          <p:cNvSpPr>
            <a:spLocks xmlns:a="http://schemas.openxmlformats.org/drawingml/2006/main" noGrp="1"/>
          </p:cNvSpPr>
          <p:nvPr/>
        </p:nvSpPr>
        <p:spPr>
          <a:xfrm xmlns:a="http://schemas.openxmlformats.org/drawingml/2006/main">
            <a:off x="8455025" y="4600575"/>
            <a:ext cx="190500" cy="95250"/>
          </a:xfrm>
          <a:prstGeom xmlns:a="http://schemas.openxmlformats.org/drawingml/2006/main" prst="roundRect">
            <a:avLst>
              <a:gd name="adj" fmla="val 50000"/>
            </a:avLst>
          </a:prstGeom>
          <a:solidFill xmlns:a="http://schemas.openxmlformats.org/drawingml/2006/main">
            <a:srgbClr val="E86F5B"/>
          </a:solidFill>
          <a:ln xmlns:a="http://schemas.openxmlformats.org/drawingml/2006/main" w="9525">
            <a:solidFill>
              <a:srgbClr val="101214"/>
            </a:solidFill>
            <a:prstDash val="solid"/>
          </a:ln>
        </p:spPr>
      </p:sp>
      <p:sp>
        <p:nvSpPr>
          <p:cNvPr id="32" name="">
            <a:extLst xmlns:a="http://schemas.openxmlformats.org/drawingml/2006/main">
              <a:ext uri="{FF2B5EF4-FFF2-40B4-BE49-F238E27FC236}">
                <a16:creationId xmlns:a16="http://schemas.microsoft.com/office/drawing/2014/main" id="{021A9572-190F-4E24-82E1-760A2AB9743A}"/>
              </a:ext>
            </a:extLst>
          </p:cNvPr>
          <p:cNvSpPr>
            <a:spLocks xmlns:a="http://schemas.openxmlformats.org/drawingml/2006/main" noGrp="1"/>
          </p:cNvSpPr>
          <p:nvPr/>
        </p:nvSpPr>
        <p:spPr>
          <a:xfrm xmlns:a="http://schemas.openxmlformats.org/drawingml/2006/main">
            <a:off x="88646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运行实体</a:t>
            </a:r>
          </a:p>
        </p:txBody>
      </p:sp>
      <p:sp>
        <p:nvSpPr>
          <p:cNvPr id="33" name="">
            <a:extLst xmlns:a="http://schemas.openxmlformats.org/drawingml/2006/main">
              <a:ext uri="{FF2B5EF4-FFF2-40B4-BE49-F238E27FC236}">
                <a16:creationId xmlns:a16="http://schemas.microsoft.com/office/drawing/2014/main" id="{1CDD3753-6E7A-470D-9384-20C1ED78B49D}"/>
              </a:ext>
            </a:extLst>
          </p:cNvPr>
          <p:cNvSpPr>
            <a:spLocks xmlns:a="http://schemas.openxmlformats.org/drawingml/2006/main" noGrp="1"/>
          </p:cNvSpPr>
          <p:nvPr/>
        </p:nvSpPr>
        <p:spPr>
          <a:xfrm xmlns:a="http://schemas.openxmlformats.org/drawingml/2006/main">
            <a:off x="82550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EnergyRecord、OperationLog、CommunicationProfile、ScheduleExecutionRecord</a:t>
            </a:r>
          </a:p>
          <a:p xmlns:a="http://schemas.openxmlformats.org/drawingml/2006/main">
            <a:pPr algn="l">
              <a:defRPr sz="1125" b="0">
                <a:solidFill>
                  <a:srgbClr val="101214"/>
                </a:solidFill>
              </a:defRPr>
            </a:pPr>
            <a:r>
              <a:rPr sz="1125" b="0">
                <a:solidFill>
                  <a:srgbClr val="101214"/>
                </a:solidFill>
              </a:rPr>
              <a:t>记录能耗、日志、通信配置与调度执行结果。</a:t>
            </a:r>
          </a:p>
        </p:txBody>
      </p:sp>
      <p:sp>
        <p:nvSpPr>
          <p:cNvPr id="34" name="">
            <a:extLst xmlns:a="http://schemas.openxmlformats.org/drawingml/2006/main">
              <a:ext uri="{FF2B5EF4-FFF2-40B4-BE49-F238E27FC236}">
                <a16:creationId xmlns:a16="http://schemas.microsoft.com/office/drawing/2014/main" id="{B398782D-0F17-4932-BDD2-658C853B05DA}"/>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Generated art plate is used as visual direction; all meaningful copy and structure are editable PowerPoint objects.</a:t>
            </a:r>
          </a:p>
        </p:txBody>
      </p:sp>
    </p:spTree>
    <p:extLst>
      <p:ext uri="{BB962C8B-B14F-4D97-AF65-F5344CB8AC3E}">
        <p14:creationId xmlns:p14="http://schemas.microsoft.com/office/powerpoint/2010/main" val="869420142"/>
      </p:ext>
    </p:extLst>
  </p:cSld>
</p:sld>
</file>

<file path=ppt/slides/slide6.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60678D0-8F19-458D-916B-46DD29A5E40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7485b3b1a5a4469"/>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45314A-E7AC-4201-847A-A0C388CDBA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4118"/>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2148CC6-DFA0-4139-AA7E-D71145A0D562}"/>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SECTION 06</a:t>
            </a:r>
          </a:p>
        </p:txBody>
      </p:sp>
      <p:sp>
        <p:nvSpPr>
          <p:cNvPr id="5" name="">
            <a:extLst xmlns:a="http://schemas.openxmlformats.org/drawingml/2006/main">
              <a:ext uri="{FF2B5EF4-FFF2-40B4-BE49-F238E27FC236}">
                <a16:creationId xmlns:a16="http://schemas.microsoft.com/office/drawing/2014/main" id="{11EEB2DD-D349-4CD8-90C5-91D130557CAF}"/>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06 / 10</a:t>
            </a:r>
          </a:p>
        </p:txBody>
      </p:sp>
      <p:sp>
        <p:nvSpPr>
          <p:cNvPr id="6" name="">
            <a:extLst xmlns:a="http://schemas.openxmlformats.org/drawingml/2006/main">
              <a:ext uri="{FF2B5EF4-FFF2-40B4-BE49-F238E27FC236}">
                <a16:creationId xmlns:a16="http://schemas.microsoft.com/office/drawing/2014/main" id="{E679B901-7859-4F37-AD56-F5FF7B98A61F}"/>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F9B8F82-1DBB-4425-B089-3B04C01C5133}"/>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8" name="">
            <a:extLst xmlns:a="http://schemas.openxmlformats.org/drawingml/2006/main">
              <a:ext uri="{FF2B5EF4-FFF2-40B4-BE49-F238E27FC236}">
                <a16:creationId xmlns:a16="http://schemas.microsoft.com/office/drawing/2014/main" id="{58F4DC57-9694-455A-835A-35330B6D5A53}"/>
              </a:ext>
            </a:extLst>
          </p:cNvPr>
          <p:cNvSpPr>
            <a:spLocks xmlns:a="http://schemas.openxmlformats.org/drawingml/2006/main" noGrp="1"/>
          </p:cNvSpPr>
          <p:nvPr/>
        </p:nvSpPr>
        <p:spPr>
          <a:xfrm xmlns:a="http://schemas.openxmlformats.org/drawingml/2006/main">
            <a:off x="609600" y="819150"/>
            <a:ext cx="66675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2D / 3D 可视化监控实现</a:t>
            </a:r>
          </a:p>
        </p:txBody>
      </p:sp>
      <p:sp>
        <p:nvSpPr>
          <p:cNvPr id="9" name="">
            <a:extLst xmlns:a="http://schemas.openxmlformats.org/drawingml/2006/main">
              <a:ext uri="{FF2B5EF4-FFF2-40B4-BE49-F238E27FC236}">
                <a16:creationId xmlns:a16="http://schemas.microsoft.com/office/drawing/2014/main" id="{BD469314-37F3-4C07-8C69-3B04DBC3DDA1}"/>
              </a:ext>
            </a:extLst>
          </p:cNvPr>
          <p:cNvSpPr>
            <a:spLocks xmlns:a="http://schemas.openxmlformats.org/drawingml/2006/main" noGrp="1"/>
          </p:cNvSpPr>
          <p:nvPr/>
        </p:nvSpPr>
        <p:spPr>
          <a:xfrm xmlns:a="http://schemas.openxmlformats.org/drawingml/2006/main">
            <a:off x="628650" y="2228850"/>
            <a:ext cx="6667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系统同时支持楼层平面图监控与三维楼层状态展示，两种视图共用同一状态源。</a:t>
            </a:r>
          </a:p>
        </p:txBody>
      </p:sp>
      <p:sp>
        <p:nvSpPr>
          <p:cNvPr id="10" name="">
            <a:extLst xmlns:a="http://schemas.openxmlformats.org/drawingml/2006/main">
              <a:ext uri="{FF2B5EF4-FFF2-40B4-BE49-F238E27FC236}">
                <a16:creationId xmlns:a16="http://schemas.microsoft.com/office/drawing/2014/main" id="{F6EEA73D-8326-4638-B3A3-84B951A08FE9}"/>
              </a:ext>
            </a:extLst>
          </p:cNvPr>
          <p:cNvSpPr>
            <a:spLocks xmlns:a="http://schemas.openxmlformats.org/drawingml/2006/main" noGrp="1"/>
          </p:cNvSpPr>
          <p:nvPr/>
        </p:nvSpPr>
        <p:spPr>
          <a:xfrm xmlns:a="http://schemas.openxmlformats.org/drawingml/2006/main">
            <a:off x="876300" y="3848100"/>
            <a:ext cx="3143250" cy="1657350"/>
          </a:xfrm>
          <a:prstGeom xmlns:a="http://schemas.openxmlformats.org/drawingml/2006/main" prst="roundRect">
            <a:avLst>
              <a:gd name="adj" fmla="val 4598"/>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1" name="">
            <a:extLst xmlns:a="http://schemas.openxmlformats.org/drawingml/2006/main">
              <a:ext uri="{FF2B5EF4-FFF2-40B4-BE49-F238E27FC236}">
                <a16:creationId xmlns:a16="http://schemas.microsoft.com/office/drawing/2014/main" id="{441FC1EE-925D-4A67-A69E-44F666E25172}"/>
              </a:ext>
            </a:extLst>
          </p:cNvPr>
          <p:cNvSpPr>
            <a:spLocks xmlns:a="http://schemas.openxmlformats.org/drawingml/2006/main" noGrp="1"/>
          </p:cNvSpPr>
          <p:nvPr/>
        </p:nvSpPr>
        <p:spPr>
          <a:xfrm xmlns:a="http://schemas.openxmlformats.org/drawingml/2006/main">
            <a:off x="876300" y="3848100"/>
            <a:ext cx="3143250" cy="66675"/>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1197348-1C68-4550-9870-BD1C5A94E56B}"/>
              </a:ext>
            </a:extLst>
          </p:cNvPr>
          <p:cNvSpPr>
            <a:spLocks xmlns:a="http://schemas.openxmlformats.org/drawingml/2006/main" noGrp="1"/>
          </p:cNvSpPr>
          <p:nvPr/>
        </p:nvSpPr>
        <p:spPr>
          <a:xfrm xmlns:a="http://schemas.openxmlformats.org/drawingml/2006/main">
            <a:off x="1085850" y="4076700"/>
            <a:ext cx="2724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01214"/>
                </a:solidFill>
              </a:defRPr>
            </a:pPr>
            <a:r>
              <a:rPr sz="2550" b="1">
                <a:solidFill>
                  <a:srgbClr val="101214"/>
                </a:solidFill>
              </a:rPr>
              <a:t>2D</a:t>
            </a:r>
          </a:p>
        </p:txBody>
      </p:sp>
      <p:sp>
        <p:nvSpPr>
          <p:cNvPr id="13" name="">
            <a:extLst xmlns:a="http://schemas.openxmlformats.org/drawingml/2006/main">
              <a:ext uri="{FF2B5EF4-FFF2-40B4-BE49-F238E27FC236}">
                <a16:creationId xmlns:a16="http://schemas.microsoft.com/office/drawing/2014/main" id="{789E4CEB-CE01-447B-959D-BC8E12A0337D}"/>
              </a:ext>
            </a:extLst>
          </p:cNvPr>
          <p:cNvSpPr>
            <a:spLocks xmlns:a="http://schemas.openxmlformats.org/drawingml/2006/main" noGrp="1"/>
          </p:cNvSpPr>
          <p:nvPr/>
        </p:nvSpPr>
        <p:spPr>
          <a:xfrm xmlns:a="http://schemas.openxmlformats.org/drawingml/2006/main">
            <a:off x="1104900" y="4629150"/>
            <a:ext cx="2686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0363A"/>
                </a:solidFill>
              </a:defRPr>
            </a:pPr>
            <a:r>
              <a:rPr sz="1200" b="0">
                <a:solidFill>
                  <a:srgbClr val="30363A"/>
                </a:solidFill>
              </a:rPr>
              <a:t>平面图监控</a:t>
            </a:r>
          </a:p>
        </p:txBody>
      </p:sp>
      <p:sp>
        <p:nvSpPr>
          <p:cNvPr id="14" name="">
            <a:extLst xmlns:a="http://schemas.openxmlformats.org/drawingml/2006/main">
              <a:ext uri="{FF2B5EF4-FFF2-40B4-BE49-F238E27FC236}">
                <a16:creationId xmlns:a16="http://schemas.microsoft.com/office/drawing/2014/main" id="{51BE8386-039D-4DAE-855A-EDFA6847518F}"/>
              </a:ext>
            </a:extLst>
          </p:cNvPr>
          <p:cNvSpPr>
            <a:spLocks xmlns:a="http://schemas.openxmlformats.org/drawingml/2006/main" noGrp="1"/>
          </p:cNvSpPr>
          <p:nvPr/>
        </p:nvSpPr>
        <p:spPr>
          <a:xfrm xmlns:a="http://schemas.openxmlformats.org/drawingml/2006/main">
            <a:off x="1104900" y="5105400"/>
            <a:ext cx="268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基于区域坐标与回路相对坐标绘制楼层示意图</a:t>
            </a:r>
          </a:p>
        </p:txBody>
      </p:sp>
      <p:sp>
        <p:nvSpPr>
          <p:cNvPr id="15" name="">
            <a:extLst xmlns:a="http://schemas.openxmlformats.org/drawingml/2006/main">
              <a:ext uri="{FF2B5EF4-FFF2-40B4-BE49-F238E27FC236}">
                <a16:creationId xmlns:a16="http://schemas.microsoft.com/office/drawing/2014/main" id="{BD3EF791-EC06-45E4-AF47-07425D61EA01}"/>
              </a:ext>
            </a:extLst>
          </p:cNvPr>
          <p:cNvSpPr>
            <a:spLocks xmlns:a="http://schemas.openxmlformats.org/drawingml/2006/main" noGrp="1"/>
          </p:cNvSpPr>
          <p:nvPr/>
        </p:nvSpPr>
        <p:spPr>
          <a:xfrm xmlns:a="http://schemas.openxmlformats.org/drawingml/2006/main">
            <a:off x="4400550" y="3848100"/>
            <a:ext cx="3143250" cy="1657350"/>
          </a:xfrm>
          <a:prstGeom xmlns:a="http://schemas.openxmlformats.org/drawingml/2006/main" prst="roundRect">
            <a:avLst>
              <a:gd name="adj" fmla="val 4598"/>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6" name="">
            <a:extLst xmlns:a="http://schemas.openxmlformats.org/drawingml/2006/main">
              <a:ext uri="{FF2B5EF4-FFF2-40B4-BE49-F238E27FC236}">
                <a16:creationId xmlns:a16="http://schemas.microsoft.com/office/drawing/2014/main" id="{24B1C842-BED8-4E6F-92B5-697E11194AAE}"/>
              </a:ext>
            </a:extLst>
          </p:cNvPr>
          <p:cNvSpPr>
            <a:spLocks xmlns:a="http://schemas.openxmlformats.org/drawingml/2006/main" noGrp="1"/>
          </p:cNvSpPr>
          <p:nvPr/>
        </p:nvSpPr>
        <p:spPr>
          <a:xfrm xmlns:a="http://schemas.openxmlformats.org/drawingml/2006/main">
            <a:off x="4400550" y="3848100"/>
            <a:ext cx="3143250" cy="66675"/>
          </a:xfrm>
          <a:prstGeom xmlns:a="http://schemas.openxmlformats.org/drawingml/2006/main" prst="rect">
            <a:avLst/>
          </a:prstGeom>
          <a:solidFill xmlns:a="http://schemas.openxmlformats.org/drawingml/2006/main">
            <a:srgbClr val="D7A83D"/>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07AC74F1-D07F-435B-8B6C-F29EEB3C3F01}"/>
              </a:ext>
            </a:extLst>
          </p:cNvPr>
          <p:cNvSpPr>
            <a:spLocks xmlns:a="http://schemas.openxmlformats.org/drawingml/2006/main" noGrp="1"/>
          </p:cNvSpPr>
          <p:nvPr/>
        </p:nvSpPr>
        <p:spPr>
          <a:xfrm xmlns:a="http://schemas.openxmlformats.org/drawingml/2006/main">
            <a:off x="4610100" y="4076700"/>
            <a:ext cx="2724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01214"/>
                </a:solidFill>
              </a:defRPr>
            </a:pPr>
            <a:r>
              <a:rPr sz="2550" b="1">
                <a:solidFill>
                  <a:srgbClr val="101214"/>
                </a:solidFill>
              </a:rPr>
              <a:t>3D</a:t>
            </a:r>
          </a:p>
        </p:txBody>
      </p:sp>
      <p:sp>
        <p:nvSpPr>
          <p:cNvPr id="18" name="">
            <a:extLst xmlns:a="http://schemas.openxmlformats.org/drawingml/2006/main">
              <a:ext uri="{FF2B5EF4-FFF2-40B4-BE49-F238E27FC236}">
                <a16:creationId xmlns:a16="http://schemas.microsoft.com/office/drawing/2014/main" id="{AD32276A-E887-43CB-8C5A-17DB2F5B051B}"/>
              </a:ext>
            </a:extLst>
          </p:cNvPr>
          <p:cNvSpPr>
            <a:spLocks xmlns:a="http://schemas.openxmlformats.org/drawingml/2006/main" noGrp="1"/>
          </p:cNvSpPr>
          <p:nvPr/>
        </p:nvSpPr>
        <p:spPr>
          <a:xfrm xmlns:a="http://schemas.openxmlformats.org/drawingml/2006/main">
            <a:off x="4629150" y="4629150"/>
            <a:ext cx="2686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0363A"/>
                </a:solidFill>
              </a:defRPr>
            </a:pPr>
            <a:r>
              <a:rPr sz="1200" b="0">
                <a:solidFill>
                  <a:srgbClr val="30363A"/>
                </a:solidFill>
              </a:rPr>
              <a:t>三维监控</a:t>
            </a:r>
          </a:p>
        </p:txBody>
      </p:sp>
      <p:sp>
        <p:nvSpPr>
          <p:cNvPr id="19" name="">
            <a:extLst xmlns:a="http://schemas.openxmlformats.org/drawingml/2006/main">
              <a:ext uri="{FF2B5EF4-FFF2-40B4-BE49-F238E27FC236}">
                <a16:creationId xmlns:a16="http://schemas.microsoft.com/office/drawing/2014/main" id="{6E396367-1030-4D48-BB29-A2FF56083F35}"/>
              </a:ext>
            </a:extLst>
          </p:cNvPr>
          <p:cNvSpPr>
            <a:spLocks xmlns:a="http://schemas.openxmlformats.org/drawingml/2006/main" noGrp="1"/>
          </p:cNvSpPr>
          <p:nvPr/>
        </p:nvSpPr>
        <p:spPr>
          <a:xfrm xmlns:a="http://schemas.openxmlformats.org/drawingml/2006/main">
            <a:off x="4629150" y="5105400"/>
            <a:ext cx="268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基于 HelixToolkit 组合楼层体块、区域盒体与灯位节点</a:t>
            </a:r>
          </a:p>
        </p:txBody>
      </p:sp>
      <p:sp>
        <p:nvSpPr>
          <p:cNvPr id="20" name="">
            <a:extLst xmlns:a="http://schemas.openxmlformats.org/drawingml/2006/main">
              <a:ext uri="{FF2B5EF4-FFF2-40B4-BE49-F238E27FC236}">
                <a16:creationId xmlns:a16="http://schemas.microsoft.com/office/drawing/2014/main" id="{F15D4E60-1C91-4452-AD4A-BFD13C309F36}"/>
              </a:ext>
            </a:extLst>
          </p:cNvPr>
          <p:cNvSpPr>
            <a:spLocks xmlns:a="http://schemas.openxmlformats.org/drawingml/2006/main" noGrp="1"/>
          </p:cNvSpPr>
          <p:nvPr/>
        </p:nvSpPr>
        <p:spPr>
          <a:xfrm xmlns:a="http://schemas.openxmlformats.org/drawingml/2006/main">
            <a:off x="7924800" y="3848100"/>
            <a:ext cx="3143250" cy="1657350"/>
          </a:xfrm>
          <a:prstGeom xmlns:a="http://schemas.openxmlformats.org/drawingml/2006/main" prst="roundRect">
            <a:avLst>
              <a:gd name="adj" fmla="val 4598"/>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1" name="">
            <a:extLst xmlns:a="http://schemas.openxmlformats.org/drawingml/2006/main">
              <a:ext uri="{FF2B5EF4-FFF2-40B4-BE49-F238E27FC236}">
                <a16:creationId xmlns:a16="http://schemas.microsoft.com/office/drawing/2014/main" id="{17D4D1EB-7938-41F6-95C7-58694F7AA914}"/>
              </a:ext>
            </a:extLst>
          </p:cNvPr>
          <p:cNvSpPr>
            <a:spLocks xmlns:a="http://schemas.openxmlformats.org/drawingml/2006/main" noGrp="1"/>
          </p:cNvSpPr>
          <p:nvPr/>
        </p:nvSpPr>
        <p:spPr>
          <a:xfrm xmlns:a="http://schemas.openxmlformats.org/drawingml/2006/main">
            <a:off x="7924800" y="3848100"/>
            <a:ext cx="3143250" cy="66675"/>
          </a:xfrm>
          <a:prstGeom xmlns:a="http://schemas.openxmlformats.org/drawingml/2006/main" prst="rect">
            <a:avLst/>
          </a:prstGeom>
          <a:solidFill xmlns:a="http://schemas.openxmlformats.org/drawingml/2006/main">
            <a:srgbClr val="E86F5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A0AE0198-88AC-488D-B69D-0027400D6CDA}"/>
              </a:ext>
            </a:extLst>
          </p:cNvPr>
          <p:cNvSpPr>
            <a:spLocks xmlns:a="http://schemas.openxmlformats.org/drawingml/2006/main" noGrp="1"/>
          </p:cNvSpPr>
          <p:nvPr/>
        </p:nvSpPr>
        <p:spPr>
          <a:xfrm xmlns:a="http://schemas.openxmlformats.org/drawingml/2006/main">
            <a:off x="8134350" y="4076700"/>
            <a:ext cx="2724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01214"/>
                </a:solidFill>
              </a:defRPr>
            </a:pPr>
            <a:r>
              <a:rPr sz="2550" b="1">
                <a:solidFill>
                  <a:srgbClr val="101214"/>
                </a:solidFill>
              </a:rPr>
              <a:t>1 套</a:t>
            </a:r>
          </a:p>
        </p:txBody>
      </p:sp>
      <p:sp>
        <p:nvSpPr>
          <p:cNvPr id="23" name="">
            <a:extLst xmlns:a="http://schemas.openxmlformats.org/drawingml/2006/main">
              <a:ext uri="{FF2B5EF4-FFF2-40B4-BE49-F238E27FC236}">
                <a16:creationId xmlns:a16="http://schemas.microsoft.com/office/drawing/2014/main" id="{6E6D9413-BF72-4D1A-B2A0-7E3C5E482C05}"/>
              </a:ext>
            </a:extLst>
          </p:cNvPr>
          <p:cNvSpPr>
            <a:spLocks xmlns:a="http://schemas.openxmlformats.org/drawingml/2006/main" noGrp="1"/>
          </p:cNvSpPr>
          <p:nvPr/>
        </p:nvSpPr>
        <p:spPr>
          <a:xfrm xmlns:a="http://schemas.openxmlformats.org/drawingml/2006/main">
            <a:off x="8153400" y="4629150"/>
            <a:ext cx="2686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0363A"/>
                </a:solidFill>
              </a:defRPr>
            </a:pPr>
            <a:r>
              <a:rPr sz="1200" b="0">
                <a:solidFill>
                  <a:srgbClr val="30363A"/>
                </a:solidFill>
              </a:rPr>
              <a:t>统一状态源</a:t>
            </a:r>
          </a:p>
        </p:txBody>
      </p:sp>
      <p:sp>
        <p:nvSpPr>
          <p:cNvPr id="24" name="">
            <a:extLst xmlns:a="http://schemas.openxmlformats.org/drawingml/2006/main">
              <a:ext uri="{FF2B5EF4-FFF2-40B4-BE49-F238E27FC236}">
                <a16:creationId xmlns:a16="http://schemas.microsoft.com/office/drawing/2014/main" id="{3D1E97A2-D1BA-4F12-AB64-66265D1B56CE}"/>
              </a:ext>
            </a:extLst>
          </p:cNvPr>
          <p:cNvSpPr>
            <a:spLocks xmlns:a="http://schemas.openxmlformats.org/drawingml/2006/main" noGrp="1"/>
          </p:cNvSpPr>
          <p:nvPr/>
        </p:nvSpPr>
        <p:spPr>
          <a:xfrm xmlns:a="http://schemas.openxmlformats.org/drawingml/2006/main">
            <a:off x="8153400" y="5105400"/>
            <a:ext cx="268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通信事件回写后，2D 与 3D 界面同步刷新</a:t>
            </a:r>
          </a:p>
        </p:txBody>
      </p:sp>
      <p:sp>
        <p:nvSpPr>
          <p:cNvPr id="25" name="">
            <a:extLst xmlns:a="http://schemas.openxmlformats.org/drawingml/2006/main">
              <a:ext uri="{FF2B5EF4-FFF2-40B4-BE49-F238E27FC236}">
                <a16:creationId xmlns:a16="http://schemas.microsoft.com/office/drawing/2014/main" id="{5698B24E-DF2A-4398-8BAC-A2443CF7BCD6}"/>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Generated art plate is used as visual direction; all meaningful copy and structure are editable PowerPoint objects.</a:t>
            </a:r>
          </a:p>
        </p:txBody>
      </p:sp>
    </p:spTree>
    <p:extLst>
      <p:ext uri="{BB962C8B-B14F-4D97-AF65-F5344CB8AC3E}">
        <p14:creationId xmlns:p14="http://schemas.microsoft.com/office/powerpoint/2010/main" val="549313371"/>
      </p:ext>
    </p:extLst>
  </p:cSld>
</p:sld>
</file>

<file path=ppt/slides/slide7.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60678D0-8F19-458D-916B-46DD29A5E40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e6b1484bb83472b"/>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6771C36-56F0-466E-9F37-43B29A1FE0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2157"/>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51EBD3A-E7AF-46B4-A36C-FE44FEDC6EBB}"/>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SECTION 07</a:t>
            </a:r>
          </a:p>
        </p:txBody>
      </p:sp>
      <p:sp>
        <p:nvSpPr>
          <p:cNvPr id="5" name="">
            <a:extLst xmlns:a="http://schemas.openxmlformats.org/drawingml/2006/main">
              <a:ext uri="{FF2B5EF4-FFF2-40B4-BE49-F238E27FC236}">
                <a16:creationId xmlns:a16="http://schemas.microsoft.com/office/drawing/2014/main" id="{3C35792C-CDDA-439B-BE77-D7CCBDEC9754}"/>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07 / 10</a:t>
            </a:r>
          </a:p>
        </p:txBody>
      </p:sp>
      <p:sp>
        <p:nvSpPr>
          <p:cNvPr id="6" name="">
            <a:extLst xmlns:a="http://schemas.openxmlformats.org/drawingml/2006/main">
              <a:ext uri="{FF2B5EF4-FFF2-40B4-BE49-F238E27FC236}">
                <a16:creationId xmlns:a16="http://schemas.microsoft.com/office/drawing/2014/main" id="{CD0AA6DD-EBDB-44D0-90AF-4032AB2A9580}"/>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12817ABB-0EA3-4675-9645-2AA593B910C5}"/>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8" name="">
            <a:extLst xmlns:a="http://schemas.openxmlformats.org/drawingml/2006/main">
              <a:ext uri="{FF2B5EF4-FFF2-40B4-BE49-F238E27FC236}">
                <a16:creationId xmlns:a16="http://schemas.microsoft.com/office/drawing/2014/main" id="{8419A574-657D-4593-9DC1-E8585458FB95}"/>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分组、情景与定时调度</a:t>
            </a:r>
          </a:p>
        </p:txBody>
      </p:sp>
      <p:sp>
        <p:nvSpPr>
          <p:cNvPr id="9" name="">
            <a:extLst xmlns:a="http://schemas.openxmlformats.org/drawingml/2006/main">
              <a:ext uri="{FF2B5EF4-FFF2-40B4-BE49-F238E27FC236}">
                <a16:creationId xmlns:a16="http://schemas.microsoft.com/office/drawing/2014/main" id="{F1F12067-CF9B-4812-A106-75387CB24A9C}"/>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系统将常见楼宇照明控制需求抽象为三类核心策略能力。</a:t>
            </a:r>
          </a:p>
        </p:txBody>
      </p:sp>
      <p:sp>
        <p:nvSpPr>
          <p:cNvPr id="10" name="">
            <a:extLst xmlns:a="http://schemas.openxmlformats.org/drawingml/2006/main">
              <a:ext uri="{FF2B5EF4-FFF2-40B4-BE49-F238E27FC236}">
                <a16:creationId xmlns:a16="http://schemas.microsoft.com/office/drawing/2014/main" id="{2B24ACBA-0AF0-4BE3-A984-F73DDCCC7577}"/>
              </a:ext>
            </a:extLst>
          </p:cNvPr>
          <p:cNvSpPr>
            <a:spLocks xmlns:a="http://schemas.openxmlformats.org/drawingml/2006/main" noGrp="1"/>
          </p:cNvSpPr>
          <p:nvPr/>
        </p:nvSpPr>
        <p:spPr>
          <a:xfrm xmlns:a="http://schemas.openxmlformats.org/drawingml/2006/main">
            <a:off x="8001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1" name="">
            <a:extLst xmlns:a="http://schemas.openxmlformats.org/drawingml/2006/main">
              <a:ext uri="{FF2B5EF4-FFF2-40B4-BE49-F238E27FC236}">
                <a16:creationId xmlns:a16="http://schemas.microsoft.com/office/drawing/2014/main" id="{33DD20D3-E897-4CF8-9849-A17236F8F0EA}"/>
              </a:ext>
            </a:extLst>
          </p:cNvPr>
          <p:cNvSpPr>
            <a:spLocks xmlns:a="http://schemas.openxmlformats.org/drawingml/2006/main" noGrp="1"/>
          </p:cNvSpPr>
          <p:nvPr/>
        </p:nvSpPr>
        <p:spPr>
          <a:xfrm xmlns:a="http://schemas.openxmlformats.org/drawingml/2006/main">
            <a:off x="8001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0546542F-CEF5-44F5-B05E-A01C8053BB90}"/>
              </a:ext>
            </a:extLst>
          </p:cNvPr>
          <p:cNvSpPr>
            <a:spLocks xmlns:a="http://schemas.openxmlformats.org/drawingml/2006/main" noGrp="1"/>
          </p:cNvSpPr>
          <p:nvPr/>
        </p:nvSpPr>
        <p:spPr>
          <a:xfrm xmlns:a="http://schemas.openxmlformats.org/drawingml/2006/main">
            <a:off x="10096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3" name="">
            <a:extLst xmlns:a="http://schemas.openxmlformats.org/drawingml/2006/main">
              <a:ext uri="{FF2B5EF4-FFF2-40B4-BE49-F238E27FC236}">
                <a16:creationId xmlns:a16="http://schemas.microsoft.com/office/drawing/2014/main" id="{B36C31C8-B01F-49A2-A709-B75AC410F7D3}"/>
              </a:ext>
            </a:extLst>
          </p:cNvPr>
          <p:cNvSpPr>
            <a:spLocks xmlns:a="http://schemas.openxmlformats.org/drawingml/2006/main" noGrp="1"/>
          </p:cNvSpPr>
          <p:nvPr/>
        </p:nvSpPr>
        <p:spPr>
          <a:xfrm xmlns:a="http://schemas.openxmlformats.org/drawingml/2006/main">
            <a:off x="1162050" y="4562475"/>
            <a:ext cx="57150" cy="1143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68D905A-A7BF-4599-81FB-178A2694BDBB}"/>
              </a:ext>
            </a:extLst>
          </p:cNvPr>
          <p:cNvSpPr>
            <a:spLocks xmlns:a="http://schemas.openxmlformats.org/drawingml/2006/main" noGrp="1"/>
          </p:cNvSpPr>
          <p:nvPr/>
        </p:nvSpPr>
        <p:spPr>
          <a:xfrm xmlns:a="http://schemas.openxmlformats.org/drawingml/2006/main">
            <a:off x="1247775" y="4486275"/>
            <a:ext cx="57150" cy="1905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75958BC-C816-451B-92D2-3B00FF7987D4}"/>
              </a:ext>
            </a:extLst>
          </p:cNvPr>
          <p:cNvSpPr>
            <a:spLocks xmlns:a="http://schemas.openxmlformats.org/drawingml/2006/main" noGrp="1"/>
          </p:cNvSpPr>
          <p:nvPr/>
        </p:nvSpPr>
        <p:spPr>
          <a:xfrm xmlns:a="http://schemas.openxmlformats.org/drawingml/2006/main">
            <a:off x="1333500" y="4419600"/>
            <a:ext cx="57150" cy="257175"/>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9CC643D-CA6A-4A54-AB47-38D4DA88F6A8}"/>
              </a:ext>
            </a:extLst>
          </p:cNvPr>
          <p:cNvSpPr>
            <a:spLocks xmlns:a="http://schemas.openxmlformats.org/drawingml/2006/main" noGrp="1"/>
          </p:cNvSpPr>
          <p:nvPr/>
        </p:nvSpPr>
        <p:spPr>
          <a:xfrm xmlns:a="http://schemas.openxmlformats.org/drawingml/2006/main">
            <a:off x="16383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分组控制</a:t>
            </a:r>
          </a:p>
        </p:txBody>
      </p:sp>
      <p:sp>
        <p:nvSpPr>
          <p:cNvPr id="17" name="">
            <a:extLst xmlns:a="http://schemas.openxmlformats.org/drawingml/2006/main">
              <a:ext uri="{FF2B5EF4-FFF2-40B4-BE49-F238E27FC236}">
                <a16:creationId xmlns:a16="http://schemas.microsoft.com/office/drawing/2014/main" id="{DACF1032-EB13-4B7B-9778-B3749311C30A}"/>
              </a:ext>
            </a:extLst>
          </p:cNvPr>
          <p:cNvSpPr>
            <a:spLocks xmlns:a="http://schemas.openxmlformats.org/drawingml/2006/main" noGrp="1"/>
          </p:cNvSpPr>
          <p:nvPr/>
        </p:nvSpPr>
        <p:spPr>
          <a:xfrm xmlns:a="http://schemas.openxmlformats.org/drawingml/2006/main">
            <a:off x="10287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管理员可按楼层、功能区或业务场景组合回路，并对整组执行开关和亮度控制。</a:t>
            </a:r>
          </a:p>
        </p:txBody>
      </p:sp>
      <p:sp>
        <p:nvSpPr>
          <p:cNvPr id="18" name="">
            <a:extLst xmlns:a="http://schemas.openxmlformats.org/drawingml/2006/main">
              <a:ext uri="{FF2B5EF4-FFF2-40B4-BE49-F238E27FC236}">
                <a16:creationId xmlns:a16="http://schemas.microsoft.com/office/drawing/2014/main" id="{4707F7AB-1DE1-4CD3-A8DF-5C28DCA5F6EC}"/>
              </a:ext>
            </a:extLst>
          </p:cNvPr>
          <p:cNvSpPr>
            <a:spLocks xmlns:a="http://schemas.openxmlformats.org/drawingml/2006/main" noGrp="1"/>
          </p:cNvSpPr>
          <p:nvPr/>
        </p:nvSpPr>
        <p:spPr>
          <a:xfrm xmlns:a="http://schemas.openxmlformats.org/drawingml/2006/main">
            <a:off x="441325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9" name="">
            <a:extLst xmlns:a="http://schemas.openxmlformats.org/drawingml/2006/main">
              <a:ext uri="{FF2B5EF4-FFF2-40B4-BE49-F238E27FC236}">
                <a16:creationId xmlns:a16="http://schemas.microsoft.com/office/drawing/2014/main" id="{7D8AAD81-302C-4505-B6EB-B7B897483814}"/>
              </a:ext>
            </a:extLst>
          </p:cNvPr>
          <p:cNvSpPr>
            <a:spLocks xmlns:a="http://schemas.openxmlformats.org/drawingml/2006/main" noGrp="1"/>
          </p:cNvSpPr>
          <p:nvPr/>
        </p:nvSpPr>
        <p:spPr>
          <a:xfrm xmlns:a="http://schemas.openxmlformats.org/drawingml/2006/main">
            <a:off x="441325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D9F67A9B-F8A6-4A6B-95E5-C4857D1F0E48}"/>
              </a:ext>
            </a:extLst>
          </p:cNvPr>
          <p:cNvSpPr>
            <a:spLocks xmlns:a="http://schemas.openxmlformats.org/drawingml/2006/main" noGrp="1"/>
          </p:cNvSpPr>
          <p:nvPr/>
        </p:nvSpPr>
        <p:spPr>
          <a:xfrm xmlns:a="http://schemas.openxmlformats.org/drawingml/2006/main">
            <a:off x="462280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1" name="">
            <a:extLst xmlns:a="http://schemas.openxmlformats.org/drawingml/2006/main">
              <a:ext uri="{FF2B5EF4-FFF2-40B4-BE49-F238E27FC236}">
                <a16:creationId xmlns:a16="http://schemas.microsoft.com/office/drawing/2014/main" id="{67D77AD6-1E2A-4F12-80E9-5FEF218CAD40}"/>
              </a:ext>
            </a:extLst>
          </p:cNvPr>
          <p:cNvSpPr>
            <a:spLocks xmlns:a="http://schemas.openxmlformats.org/drawingml/2006/main" noGrp="1"/>
          </p:cNvSpPr>
          <p:nvPr/>
        </p:nvSpPr>
        <p:spPr>
          <a:xfrm xmlns:a="http://schemas.openxmlformats.org/drawingml/2006/main">
            <a:off x="4746625" y="4457700"/>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2" name="">
            <a:extLst xmlns:a="http://schemas.openxmlformats.org/drawingml/2006/main">
              <a:ext uri="{FF2B5EF4-FFF2-40B4-BE49-F238E27FC236}">
                <a16:creationId xmlns:a16="http://schemas.microsoft.com/office/drawing/2014/main" id="{A1D15D89-88C3-4B3D-846C-609997236BD2}"/>
              </a:ext>
            </a:extLst>
          </p:cNvPr>
          <p:cNvSpPr>
            <a:spLocks xmlns:a="http://schemas.openxmlformats.org/drawingml/2006/main" noGrp="1"/>
          </p:cNvSpPr>
          <p:nvPr/>
        </p:nvSpPr>
        <p:spPr>
          <a:xfrm xmlns:a="http://schemas.openxmlformats.org/drawingml/2006/main">
            <a:off x="4918075" y="4543425"/>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3" name="">
            <a:extLst xmlns:a="http://schemas.openxmlformats.org/drawingml/2006/main">
              <a:ext uri="{FF2B5EF4-FFF2-40B4-BE49-F238E27FC236}">
                <a16:creationId xmlns:a16="http://schemas.microsoft.com/office/drawing/2014/main" id="{964878C7-EEE1-4B65-9F98-FEFF83B96EC7}"/>
              </a:ext>
            </a:extLst>
          </p:cNvPr>
          <p:cNvSpPr>
            <a:spLocks xmlns:a="http://schemas.openxmlformats.org/drawingml/2006/main" noGrp="1"/>
          </p:cNvSpPr>
          <p:nvPr/>
        </p:nvSpPr>
        <p:spPr>
          <a:xfrm xmlns:a="http://schemas.openxmlformats.org/drawingml/2006/main">
            <a:off x="4832350" y="4524375"/>
            <a:ext cx="180975" cy="28575"/>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C16BF8FC-B993-4396-A880-E59345886405}"/>
              </a:ext>
            </a:extLst>
          </p:cNvPr>
          <p:cNvSpPr>
            <a:spLocks xmlns:a="http://schemas.openxmlformats.org/drawingml/2006/main" noGrp="1"/>
          </p:cNvSpPr>
          <p:nvPr/>
        </p:nvSpPr>
        <p:spPr>
          <a:xfrm xmlns:a="http://schemas.openxmlformats.org/drawingml/2006/main">
            <a:off x="525145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情景模式</a:t>
            </a:r>
          </a:p>
        </p:txBody>
      </p:sp>
      <p:sp>
        <p:nvSpPr>
          <p:cNvPr id="25" name="">
            <a:extLst xmlns:a="http://schemas.openxmlformats.org/drawingml/2006/main">
              <a:ext uri="{FF2B5EF4-FFF2-40B4-BE49-F238E27FC236}">
                <a16:creationId xmlns:a16="http://schemas.microsoft.com/office/drawing/2014/main" id="{D84FD56C-B680-495D-8601-93A5BF057234}"/>
              </a:ext>
            </a:extLst>
          </p:cNvPr>
          <p:cNvSpPr>
            <a:spLocks xmlns:a="http://schemas.openxmlformats.org/drawingml/2006/main" noGrp="1"/>
          </p:cNvSpPr>
          <p:nvPr/>
        </p:nvSpPr>
        <p:spPr>
          <a:xfrm xmlns:a="http://schemas.openxmlformats.org/drawingml/2006/main">
            <a:off x="464185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支持预设模式与自定义模式，能够为不同时间段或使用情境快速切换照明状态。</a:t>
            </a:r>
          </a:p>
        </p:txBody>
      </p:sp>
      <p:sp>
        <p:nvSpPr>
          <p:cNvPr id="26" name="">
            <a:extLst xmlns:a="http://schemas.openxmlformats.org/drawingml/2006/main">
              <a:ext uri="{FF2B5EF4-FFF2-40B4-BE49-F238E27FC236}">
                <a16:creationId xmlns:a16="http://schemas.microsoft.com/office/drawing/2014/main" id="{93D0D50D-D6B3-4ADF-AC13-0CAF729D2BDB}"/>
              </a:ext>
            </a:extLst>
          </p:cNvPr>
          <p:cNvSpPr>
            <a:spLocks xmlns:a="http://schemas.openxmlformats.org/drawingml/2006/main" noGrp="1"/>
          </p:cNvSpPr>
          <p:nvPr/>
        </p:nvSpPr>
        <p:spPr>
          <a:xfrm xmlns:a="http://schemas.openxmlformats.org/drawingml/2006/main">
            <a:off x="80264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7" name="">
            <a:extLst xmlns:a="http://schemas.openxmlformats.org/drawingml/2006/main">
              <a:ext uri="{FF2B5EF4-FFF2-40B4-BE49-F238E27FC236}">
                <a16:creationId xmlns:a16="http://schemas.microsoft.com/office/drawing/2014/main" id="{9E2F3A8F-9234-4A06-BC4F-B3858D23ECA3}"/>
              </a:ext>
            </a:extLst>
          </p:cNvPr>
          <p:cNvSpPr>
            <a:spLocks xmlns:a="http://schemas.openxmlformats.org/drawingml/2006/main" noGrp="1"/>
          </p:cNvSpPr>
          <p:nvPr/>
        </p:nvSpPr>
        <p:spPr>
          <a:xfrm xmlns:a="http://schemas.openxmlformats.org/drawingml/2006/main">
            <a:off x="80264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C0632048-00A1-49FC-80D4-863EBD424E5B}"/>
              </a:ext>
            </a:extLst>
          </p:cNvPr>
          <p:cNvSpPr>
            <a:spLocks xmlns:a="http://schemas.openxmlformats.org/drawingml/2006/main" noGrp="1"/>
          </p:cNvSpPr>
          <p:nvPr/>
        </p:nvSpPr>
        <p:spPr>
          <a:xfrm xmlns:a="http://schemas.openxmlformats.org/drawingml/2006/main">
            <a:off x="82359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9" name="">
            <a:extLst xmlns:a="http://schemas.openxmlformats.org/drawingml/2006/main">
              <a:ext uri="{FF2B5EF4-FFF2-40B4-BE49-F238E27FC236}">
                <a16:creationId xmlns:a16="http://schemas.microsoft.com/office/drawing/2014/main" id="{70329394-9208-475B-9B2F-1BFBAD1174EA}"/>
              </a:ext>
            </a:extLst>
          </p:cNvPr>
          <p:cNvSpPr>
            <a:spLocks xmlns:a="http://schemas.openxmlformats.org/drawingml/2006/main" noGrp="1"/>
          </p:cNvSpPr>
          <p:nvPr/>
        </p:nvSpPr>
        <p:spPr>
          <a:xfrm xmlns:a="http://schemas.openxmlformats.org/drawingml/2006/main">
            <a:off x="8359775" y="4429125"/>
            <a:ext cx="247650" cy="123825"/>
          </a:xfrm>
          <a:prstGeom xmlns:a="http://schemas.openxmlformats.org/drawingml/2006/main" prst="roundRect">
            <a:avLst>
              <a:gd name="adj" fmla="val 50000"/>
            </a:avLst>
          </a:prstGeom>
          <a:solidFill xmlns:a="http://schemas.openxmlformats.org/drawingml/2006/main">
            <a:srgbClr val="27C47D"/>
          </a:solidFill>
          <a:ln xmlns:a="http://schemas.openxmlformats.org/drawingml/2006/main" w="9525">
            <a:solidFill>
              <a:srgbClr val="101214"/>
            </a:solidFill>
            <a:prstDash val="solid"/>
          </a:ln>
        </p:spPr>
      </p:sp>
      <p:sp>
        <p:nvSpPr>
          <p:cNvPr id="30" name="">
            <a:extLst xmlns:a="http://schemas.openxmlformats.org/drawingml/2006/main">
              <a:ext uri="{FF2B5EF4-FFF2-40B4-BE49-F238E27FC236}">
                <a16:creationId xmlns:a16="http://schemas.microsoft.com/office/drawing/2014/main" id="{A23C17DC-0322-4682-AC56-387E591B2B71}"/>
              </a:ext>
            </a:extLst>
          </p:cNvPr>
          <p:cNvSpPr>
            <a:spLocks xmlns:a="http://schemas.openxmlformats.org/drawingml/2006/main" noGrp="1"/>
          </p:cNvSpPr>
          <p:nvPr/>
        </p:nvSpPr>
        <p:spPr>
          <a:xfrm xmlns:a="http://schemas.openxmlformats.org/drawingml/2006/main">
            <a:off x="8407400" y="4514850"/>
            <a:ext cx="247650" cy="123825"/>
          </a:xfrm>
          <a:prstGeom xmlns:a="http://schemas.openxmlformats.org/drawingml/2006/main" prst="roundRect">
            <a:avLst>
              <a:gd name="adj" fmla="val 50000"/>
            </a:avLst>
          </a:prstGeom>
          <a:solidFill xmlns:a="http://schemas.openxmlformats.org/drawingml/2006/main">
            <a:srgbClr val="D7A83D"/>
          </a:solidFill>
          <a:ln xmlns:a="http://schemas.openxmlformats.org/drawingml/2006/main" w="9525">
            <a:solidFill>
              <a:srgbClr val="101214"/>
            </a:solidFill>
            <a:prstDash val="solid"/>
          </a:ln>
        </p:spPr>
      </p:sp>
      <p:sp>
        <p:nvSpPr>
          <p:cNvPr id="31" name="">
            <a:extLst xmlns:a="http://schemas.openxmlformats.org/drawingml/2006/main">
              <a:ext uri="{FF2B5EF4-FFF2-40B4-BE49-F238E27FC236}">
                <a16:creationId xmlns:a16="http://schemas.microsoft.com/office/drawing/2014/main" id="{1B7D9211-8EE3-462B-AB19-9C2E3A25E1FD}"/>
              </a:ext>
            </a:extLst>
          </p:cNvPr>
          <p:cNvSpPr>
            <a:spLocks xmlns:a="http://schemas.openxmlformats.org/drawingml/2006/main" noGrp="1"/>
          </p:cNvSpPr>
          <p:nvPr/>
        </p:nvSpPr>
        <p:spPr>
          <a:xfrm xmlns:a="http://schemas.openxmlformats.org/drawingml/2006/main">
            <a:off x="8455025" y="4600575"/>
            <a:ext cx="190500" cy="95250"/>
          </a:xfrm>
          <a:prstGeom xmlns:a="http://schemas.openxmlformats.org/drawingml/2006/main" prst="roundRect">
            <a:avLst>
              <a:gd name="adj" fmla="val 50000"/>
            </a:avLst>
          </a:prstGeom>
          <a:solidFill xmlns:a="http://schemas.openxmlformats.org/drawingml/2006/main">
            <a:srgbClr val="E86F5B"/>
          </a:solidFill>
          <a:ln xmlns:a="http://schemas.openxmlformats.org/drawingml/2006/main" w="9525">
            <a:solidFill>
              <a:srgbClr val="101214"/>
            </a:solidFill>
            <a:prstDash val="solid"/>
          </a:ln>
        </p:spPr>
      </p:sp>
      <p:sp>
        <p:nvSpPr>
          <p:cNvPr id="32" name="">
            <a:extLst xmlns:a="http://schemas.openxmlformats.org/drawingml/2006/main">
              <a:ext uri="{FF2B5EF4-FFF2-40B4-BE49-F238E27FC236}">
                <a16:creationId xmlns:a16="http://schemas.microsoft.com/office/drawing/2014/main" id="{2F9251EA-B9AB-4B40-AC03-E897B5890E29}"/>
              </a:ext>
            </a:extLst>
          </p:cNvPr>
          <p:cNvSpPr>
            <a:spLocks xmlns:a="http://schemas.openxmlformats.org/drawingml/2006/main" noGrp="1"/>
          </p:cNvSpPr>
          <p:nvPr/>
        </p:nvSpPr>
        <p:spPr>
          <a:xfrm xmlns:a="http://schemas.openxmlformats.org/drawingml/2006/main">
            <a:off x="88646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定时调度</a:t>
            </a:r>
          </a:p>
        </p:txBody>
      </p:sp>
      <p:sp>
        <p:nvSpPr>
          <p:cNvPr id="33" name="">
            <a:extLst xmlns:a="http://schemas.openxmlformats.org/drawingml/2006/main">
              <a:ext uri="{FF2B5EF4-FFF2-40B4-BE49-F238E27FC236}">
                <a16:creationId xmlns:a16="http://schemas.microsoft.com/office/drawing/2014/main" id="{6D8F5697-C149-4854-8BD2-8516ABCCC0C6}"/>
              </a:ext>
            </a:extLst>
          </p:cNvPr>
          <p:cNvSpPr>
            <a:spLocks xmlns:a="http://schemas.openxmlformats.org/drawingml/2006/main" noGrp="1"/>
          </p:cNvSpPr>
          <p:nvPr/>
        </p:nvSpPr>
        <p:spPr>
          <a:xfrm xmlns:a="http://schemas.openxmlformats.org/drawingml/2006/main">
            <a:off x="82550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Quartz 按 Cron</a:t>
            </a:r>
          </a:p>
          <a:p xmlns:a="http://schemas.openxmlformats.org/drawingml/2006/main">
            <a:pPr algn="l">
              <a:defRPr sz="1125" b="0">
                <a:solidFill>
                  <a:srgbClr val="101214"/>
                </a:solidFill>
              </a:defRPr>
            </a:pPr>
            <a:r>
              <a:rPr sz="1125" b="0">
                <a:solidFill>
                  <a:srgbClr val="101214"/>
                </a:solidFill>
              </a:rPr>
              <a:t>执行单回路、分组、情景模式或全楼任务，并同步写入执行记录。</a:t>
            </a:r>
          </a:p>
        </p:txBody>
      </p:sp>
      <p:sp>
        <p:nvSpPr>
          <p:cNvPr id="34" name="">
            <a:extLst xmlns:a="http://schemas.openxmlformats.org/drawingml/2006/main">
              <a:ext uri="{FF2B5EF4-FFF2-40B4-BE49-F238E27FC236}">
                <a16:creationId xmlns:a16="http://schemas.microsoft.com/office/drawing/2014/main" id="{EC740B33-5DE8-482E-B054-E6C5DAD2E12F}"/>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Generated art plate is used as visual direction; all meaningful copy and structure are editable PowerPoint objects.</a:t>
            </a:r>
          </a:p>
        </p:txBody>
      </p:sp>
    </p:spTree>
    <p:extLst>
      <p:ext uri="{BB962C8B-B14F-4D97-AF65-F5344CB8AC3E}">
        <p14:creationId xmlns:p14="http://schemas.microsoft.com/office/powerpoint/2010/main" val="429806869"/>
      </p:ext>
    </p:extLst>
  </p:cSld>
</p:sld>
</file>

<file path=ppt/slides/slide8.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60678D0-8F19-458D-916B-46DD29A5E40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90b1a5601ca4c8e"/>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71CCAB-83A0-4304-8595-97061E3AD8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2157"/>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56C4F19-64CC-447A-A1A2-7424038C68D3}"/>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SECTION 08</a:t>
            </a:r>
          </a:p>
        </p:txBody>
      </p:sp>
      <p:sp>
        <p:nvSpPr>
          <p:cNvPr id="5" name="">
            <a:extLst xmlns:a="http://schemas.openxmlformats.org/drawingml/2006/main">
              <a:ext uri="{FF2B5EF4-FFF2-40B4-BE49-F238E27FC236}">
                <a16:creationId xmlns:a16="http://schemas.microsoft.com/office/drawing/2014/main" id="{B40D28A8-9F06-406F-9886-D2BFA6A6B275}"/>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08 / 10</a:t>
            </a:r>
          </a:p>
        </p:txBody>
      </p:sp>
      <p:sp>
        <p:nvSpPr>
          <p:cNvPr id="6" name="">
            <a:extLst xmlns:a="http://schemas.openxmlformats.org/drawingml/2006/main">
              <a:ext uri="{FF2B5EF4-FFF2-40B4-BE49-F238E27FC236}">
                <a16:creationId xmlns:a16="http://schemas.microsoft.com/office/drawing/2014/main" id="{6849E60A-BA54-4A75-82D5-4474B58105F3}"/>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0C23291-F540-4683-BC5B-B159A8CA2923}"/>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8" name="">
            <a:extLst xmlns:a="http://schemas.openxmlformats.org/drawingml/2006/main">
              <a:ext uri="{FF2B5EF4-FFF2-40B4-BE49-F238E27FC236}">
                <a16:creationId xmlns:a16="http://schemas.microsoft.com/office/drawing/2014/main" id="{48545569-2730-4F91-8EC6-9CD10DCAECB9}"/>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能耗统计与日志追踪</a:t>
            </a:r>
          </a:p>
        </p:txBody>
      </p:sp>
      <p:sp>
        <p:nvSpPr>
          <p:cNvPr id="9" name="">
            <a:extLst xmlns:a="http://schemas.openxmlformats.org/drawingml/2006/main">
              <a:ext uri="{FF2B5EF4-FFF2-40B4-BE49-F238E27FC236}">
                <a16:creationId xmlns:a16="http://schemas.microsoft.com/office/drawing/2014/main" id="{9F2EE4D0-44F9-4447-9059-46A3C62A326E}"/>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平台不只做控制，也记录运行痕迹与能耗变化，为节能分析提供数据基础。</a:t>
            </a:r>
          </a:p>
        </p:txBody>
      </p:sp>
      <p:sp>
        <p:nvSpPr>
          <p:cNvPr id="10" name="">
            <a:extLst xmlns:a="http://schemas.openxmlformats.org/drawingml/2006/main">
              <a:ext uri="{FF2B5EF4-FFF2-40B4-BE49-F238E27FC236}">
                <a16:creationId xmlns:a16="http://schemas.microsoft.com/office/drawing/2014/main" id="{54F66C1F-D9F0-4DF0-8651-1263A5F7FA84}"/>
              </a:ext>
            </a:extLst>
          </p:cNvPr>
          <p:cNvSpPr>
            <a:spLocks xmlns:a="http://schemas.openxmlformats.org/drawingml/2006/main" noGrp="1"/>
          </p:cNvSpPr>
          <p:nvPr/>
        </p:nvSpPr>
        <p:spPr>
          <a:xfrm xmlns:a="http://schemas.openxmlformats.org/drawingml/2006/main">
            <a:off x="8001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1" name="">
            <a:extLst xmlns:a="http://schemas.openxmlformats.org/drawingml/2006/main">
              <a:ext uri="{FF2B5EF4-FFF2-40B4-BE49-F238E27FC236}">
                <a16:creationId xmlns:a16="http://schemas.microsoft.com/office/drawing/2014/main" id="{8A3343BF-D9B0-4A52-ACB5-32EDBCABF156}"/>
              </a:ext>
            </a:extLst>
          </p:cNvPr>
          <p:cNvSpPr>
            <a:spLocks xmlns:a="http://schemas.openxmlformats.org/drawingml/2006/main" noGrp="1"/>
          </p:cNvSpPr>
          <p:nvPr/>
        </p:nvSpPr>
        <p:spPr>
          <a:xfrm xmlns:a="http://schemas.openxmlformats.org/drawingml/2006/main">
            <a:off x="8001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2E98C67-A1F3-44F0-B290-7E7ED9669865}"/>
              </a:ext>
            </a:extLst>
          </p:cNvPr>
          <p:cNvSpPr>
            <a:spLocks xmlns:a="http://schemas.openxmlformats.org/drawingml/2006/main" noGrp="1"/>
          </p:cNvSpPr>
          <p:nvPr/>
        </p:nvSpPr>
        <p:spPr>
          <a:xfrm xmlns:a="http://schemas.openxmlformats.org/drawingml/2006/main">
            <a:off x="10096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3" name="">
            <a:extLst xmlns:a="http://schemas.openxmlformats.org/drawingml/2006/main">
              <a:ext uri="{FF2B5EF4-FFF2-40B4-BE49-F238E27FC236}">
                <a16:creationId xmlns:a16="http://schemas.microsoft.com/office/drawing/2014/main" id="{5EEEAFAA-CA02-4912-9979-3DC6B52B260B}"/>
              </a:ext>
            </a:extLst>
          </p:cNvPr>
          <p:cNvSpPr>
            <a:spLocks xmlns:a="http://schemas.openxmlformats.org/drawingml/2006/main" noGrp="1"/>
          </p:cNvSpPr>
          <p:nvPr/>
        </p:nvSpPr>
        <p:spPr>
          <a:xfrm xmlns:a="http://schemas.openxmlformats.org/drawingml/2006/main">
            <a:off x="1162050" y="4562475"/>
            <a:ext cx="57150" cy="1143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665CD60-2A4B-443B-B844-57B9CF147B91}"/>
              </a:ext>
            </a:extLst>
          </p:cNvPr>
          <p:cNvSpPr>
            <a:spLocks xmlns:a="http://schemas.openxmlformats.org/drawingml/2006/main" noGrp="1"/>
          </p:cNvSpPr>
          <p:nvPr/>
        </p:nvSpPr>
        <p:spPr>
          <a:xfrm xmlns:a="http://schemas.openxmlformats.org/drawingml/2006/main">
            <a:off x="1247775" y="4486275"/>
            <a:ext cx="57150" cy="1905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A89CE4E-AD49-40B3-8A00-76F68F7C52D0}"/>
              </a:ext>
            </a:extLst>
          </p:cNvPr>
          <p:cNvSpPr>
            <a:spLocks xmlns:a="http://schemas.openxmlformats.org/drawingml/2006/main" noGrp="1"/>
          </p:cNvSpPr>
          <p:nvPr/>
        </p:nvSpPr>
        <p:spPr>
          <a:xfrm xmlns:a="http://schemas.openxmlformats.org/drawingml/2006/main">
            <a:off x="1333500" y="4419600"/>
            <a:ext cx="57150" cy="257175"/>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C859E5D-758A-4EAD-89E3-974B6F135A1B}"/>
              </a:ext>
            </a:extLst>
          </p:cNvPr>
          <p:cNvSpPr>
            <a:spLocks xmlns:a="http://schemas.openxmlformats.org/drawingml/2006/main" noGrp="1"/>
          </p:cNvSpPr>
          <p:nvPr/>
        </p:nvSpPr>
        <p:spPr>
          <a:xfrm xmlns:a="http://schemas.openxmlformats.org/drawingml/2006/main">
            <a:off x="16383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能耗采样</a:t>
            </a:r>
          </a:p>
        </p:txBody>
      </p:sp>
      <p:sp>
        <p:nvSpPr>
          <p:cNvPr id="17" name="">
            <a:extLst xmlns:a="http://schemas.openxmlformats.org/drawingml/2006/main">
              <a:ext uri="{FF2B5EF4-FFF2-40B4-BE49-F238E27FC236}">
                <a16:creationId xmlns:a16="http://schemas.microsoft.com/office/drawing/2014/main" id="{E258F0C6-F19F-4E57-AFCE-96699AA783BA}"/>
              </a:ext>
            </a:extLst>
          </p:cNvPr>
          <p:cNvSpPr>
            <a:spLocks xmlns:a="http://schemas.openxmlformats.org/drawingml/2006/main" noGrp="1"/>
          </p:cNvSpPr>
          <p:nvPr/>
        </p:nvSpPr>
        <p:spPr>
          <a:xfrm xmlns:a="http://schemas.openxmlformats.org/drawingml/2006/main">
            <a:off x="10287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系统根据通信回写与周期采样累计能耗记录，形成日趋势、楼层对比与回路排行。</a:t>
            </a:r>
          </a:p>
        </p:txBody>
      </p:sp>
      <p:sp>
        <p:nvSpPr>
          <p:cNvPr id="18" name="">
            <a:extLst xmlns:a="http://schemas.openxmlformats.org/drawingml/2006/main">
              <a:ext uri="{FF2B5EF4-FFF2-40B4-BE49-F238E27FC236}">
                <a16:creationId xmlns:a16="http://schemas.microsoft.com/office/drawing/2014/main" id="{1796983B-928A-4F67-906E-2C4593C5729C}"/>
              </a:ext>
            </a:extLst>
          </p:cNvPr>
          <p:cNvSpPr>
            <a:spLocks xmlns:a="http://schemas.openxmlformats.org/drawingml/2006/main" noGrp="1"/>
          </p:cNvSpPr>
          <p:nvPr/>
        </p:nvSpPr>
        <p:spPr>
          <a:xfrm xmlns:a="http://schemas.openxmlformats.org/drawingml/2006/main">
            <a:off x="441325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9" name="">
            <a:extLst xmlns:a="http://schemas.openxmlformats.org/drawingml/2006/main">
              <a:ext uri="{FF2B5EF4-FFF2-40B4-BE49-F238E27FC236}">
                <a16:creationId xmlns:a16="http://schemas.microsoft.com/office/drawing/2014/main" id="{72BB6E72-C90A-4222-831A-4190D3B62AC3}"/>
              </a:ext>
            </a:extLst>
          </p:cNvPr>
          <p:cNvSpPr>
            <a:spLocks xmlns:a="http://schemas.openxmlformats.org/drawingml/2006/main" noGrp="1"/>
          </p:cNvSpPr>
          <p:nvPr/>
        </p:nvSpPr>
        <p:spPr>
          <a:xfrm xmlns:a="http://schemas.openxmlformats.org/drawingml/2006/main">
            <a:off x="441325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95C1D99-8DD5-43F2-8E1E-EA2A81B85FA5}"/>
              </a:ext>
            </a:extLst>
          </p:cNvPr>
          <p:cNvSpPr>
            <a:spLocks xmlns:a="http://schemas.openxmlformats.org/drawingml/2006/main" noGrp="1"/>
          </p:cNvSpPr>
          <p:nvPr/>
        </p:nvSpPr>
        <p:spPr>
          <a:xfrm xmlns:a="http://schemas.openxmlformats.org/drawingml/2006/main">
            <a:off x="462280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1" name="">
            <a:extLst xmlns:a="http://schemas.openxmlformats.org/drawingml/2006/main">
              <a:ext uri="{FF2B5EF4-FFF2-40B4-BE49-F238E27FC236}">
                <a16:creationId xmlns:a16="http://schemas.microsoft.com/office/drawing/2014/main" id="{39D210CF-36F7-402A-AE31-61092A4A3EEB}"/>
              </a:ext>
            </a:extLst>
          </p:cNvPr>
          <p:cNvSpPr>
            <a:spLocks xmlns:a="http://schemas.openxmlformats.org/drawingml/2006/main" noGrp="1"/>
          </p:cNvSpPr>
          <p:nvPr/>
        </p:nvSpPr>
        <p:spPr>
          <a:xfrm xmlns:a="http://schemas.openxmlformats.org/drawingml/2006/main">
            <a:off x="4746625" y="4457700"/>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2" name="">
            <a:extLst xmlns:a="http://schemas.openxmlformats.org/drawingml/2006/main">
              <a:ext uri="{FF2B5EF4-FFF2-40B4-BE49-F238E27FC236}">
                <a16:creationId xmlns:a16="http://schemas.microsoft.com/office/drawing/2014/main" id="{9C223061-3721-4BD8-81F4-AE32921E89E3}"/>
              </a:ext>
            </a:extLst>
          </p:cNvPr>
          <p:cNvSpPr>
            <a:spLocks xmlns:a="http://schemas.openxmlformats.org/drawingml/2006/main" noGrp="1"/>
          </p:cNvSpPr>
          <p:nvPr/>
        </p:nvSpPr>
        <p:spPr>
          <a:xfrm xmlns:a="http://schemas.openxmlformats.org/drawingml/2006/main">
            <a:off x="4918075" y="4543425"/>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3" name="">
            <a:extLst xmlns:a="http://schemas.openxmlformats.org/drawingml/2006/main">
              <a:ext uri="{FF2B5EF4-FFF2-40B4-BE49-F238E27FC236}">
                <a16:creationId xmlns:a16="http://schemas.microsoft.com/office/drawing/2014/main" id="{7BA0ADB4-DC43-4A19-A273-00751E9DAB39}"/>
              </a:ext>
            </a:extLst>
          </p:cNvPr>
          <p:cNvSpPr>
            <a:spLocks xmlns:a="http://schemas.openxmlformats.org/drawingml/2006/main" noGrp="1"/>
          </p:cNvSpPr>
          <p:nvPr/>
        </p:nvSpPr>
        <p:spPr>
          <a:xfrm xmlns:a="http://schemas.openxmlformats.org/drawingml/2006/main">
            <a:off x="4832350" y="4524375"/>
            <a:ext cx="180975" cy="28575"/>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5168099B-6D05-4523-8771-649987610AE4}"/>
              </a:ext>
            </a:extLst>
          </p:cNvPr>
          <p:cNvSpPr>
            <a:spLocks xmlns:a="http://schemas.openxmlformats.org/drawingml/2006/main" noGrp="1"/>
          </p:cNvSpPr>
          <p:nvPr/>
        </p:nvSpPr>
        <p:spPr>
          <a:xfrm xmlns:a="http://schemas.openxmlformats.org/drawingml/2006/main">
            <a:off x="525145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图表展示</a:t>
            </a:r>
          </a:p>
        </p:txBody>
      </p:sp>
      <p:sp>
        <p:nvSpPr>
          <p:cNvPr id="25" name="">
            <a:extLst xmlns:a="http://schemas.openxmlformats.org/drawingml/2006/main">
              <a:ext uri="{FF2B5EF4-FFF2-40B4-BE49-F238E27FC236}">
                <a16:creationId xmlns:a16="http://schemas.microsoft.com/office/drawing/2014/main" id="{BBE1CEB5-04DB-4A29-9258-50758AD994E2}"/>
              </a:ext>
            </a:extLst>
          </p:cNvPr>
          <p:cNvSpPr>
            <a:spLocks xmlns:a="http://schemas.openxmlformats.org/drawingml/2006/main" noGrp="1"/>
          </p:cNvSpPr>
          <p:nvPr/>
        </p:nvSpPr>
        <p:spPr>
          <a:xfrm xmlns:a="http://schemas.openxmlformats.org/drawingml/2006/main">
            <a:off x="464185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仪表盘与统计页使用原生图表展示趋势和对比信息，支持时间范围筛选与</a:t>
            </a:r>
          </a:p>
          <a:p xmlns:a="http://schemas.openxmlformats.org/drawingml/2006/main">
            <a:pPr algn="l">
              <a:defRPr sz="1125" b="0">
                <a:solidFill>
                  <a:srgbClr val="101214"/>
                </a:solidFill>
              </a:defRPr>
            </a:pPr>
            <a:r>
              <a:rPr sz="1125" b="0">
                <a:solidFill>
                  <a:srgbClr val="101214"/>
                </a:solidFill>
              </a:rPr>
              <a:t>CSV 导出。</a:t>
            </a:r>
          </a:p>
        </p:txBody>
      </p:sp>
      <p:sp>
        <p:nvSpPr>
          <p:cNvPr id="26" name="">
            <a:extLst xmlns:a="http://schemas.openxmlformats.org/drawingml/2006/main">
              <a:ext uri="{FF2B5EF4-FFF2-40B4-BE49-F238E27FC236}">
                <a16:creationId xmlns:a16="http://schemas.microsoft.com/office/drawing/2014/main" id="{269708D4-D631-4561-92E1-0A800CA49B85}"/>
              </a:ext>
            </a:extLst>
          </p:cNvPr>
          <p:cNvSpPr>
            <a:spLocks xmlns:a="http://schemas.openxmlformats.org/drawingml/2006/main" noGrp="1"/>
          </p:cNvSpPr>
          <p:nvPr/>
        </p:nvSpPr>
        <p:spPr>
          <a:xfrm xmlns:a="http://schemas.openxmlformats.org/drawingml/2006/main">
            <a:off x="80264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7" name="">
            <a:extLst xmlns:a="http://schemas.openxmlformats.org/drawingml/2006/main">
              <a:ext uri="{FF2B5EF4-FFF2-40B4-BE49-F238E27FC236}">
                <a16:creationId xmlns:a16="http://schemas.microsoft.com/office/drawing/2014/main" id="{5AF05F10-E6F0-4249-8EF8-0C4A3D520ECE}"/>
              </a:ext>
            </a:extLst>
          </p:cNvPr>
          <p:cNvSpPr>
            <a:spLocks xmlns:a="http://schemas.openxmlformats.org/drawingml/2006/main" noGrp="1"/>
          </p:cNvSpPr>
          <p:nvPr/>
        </p:nvSpPr>
        <p:spPr>
          <a:xfrm xmlns:a="http://schemas.openxmlformats.org/drawingml/2006/main">
            <a:off x="80264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327FD62F-E1B6-41BD-BB1F-103AAB59B5F2}"/>
              </a:ext>
            </a:extLst>
          </p:cNvPr>
          <p:cNvSpPr>
            <a:spLocks xmlns:a="http://schemas.openxmlformats.org/drawingml/2006/main" noGrp="1"/>
          </p:cNvSpPr>
          <p:nvPr/>
        </p:nvSpPr>
        <p:spPr>
          <a:xfrm xmlns:a="http://schemas.openxmlformats.org/drawingml/2006/main">
            <a:off x="82359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9" name="">
            <a:extLst xmlns:a="http://schemas.openxmlformats.org/drawingml/2006/main">
              <a:ext uri="{FF2B5EF4-FFF2-40B4-BE49-F238E27FC236}">
                <a16:creationId xmlns:a16="http://schemas.microsoft.com/office/drawing/2014/main" id="{E1137E6D-5954-4061-95B4-73C89852F8D8}"/>
              </a:ext>
            </a:extLst>
          </p:cNvPr>
          <p:cNvSpPr>
            <a:spLocks xmlns:a="http://schemas.openxmlformats.org/drawingml/2006/main" noGrp="1"/>
          </p:cNvSpPr>
          <p:nvPr/>
        </p:nvSpPr>
        <p:spPr>
          <a:xfrm xmlns:a="http://schemas.openxmlformats.org/drawingml/2006/main">
            <a:off x="8359775" y="4429125"/>
            <a:ext cx="247650" cy="123825"/>
          </a:xfrm>
          <a:prstGeom xmlns:a="http://schemas.openxmlformats.org/drawingml/2006/main" prst="roundRect">
            <a:avLst>
              <a:gd name="adj" fmla="val 50000"/>
            </a:avLst>
          </a:prstGeom>
          <a:solidFill xmlns:a="http://schemas.openxmlformats.org/drawingml/2006/main">
            <a:srgbClr val="27C47D"/>
          </a:solidFill>
          <a:ln xmlns:a="http://schemas.openxmlformats.org/drawingml/2006/main" w="9525">
            <a:solidFill>
              <a:srgbClr val="101214"/>
            </a:solidFill>
            <a:prstDash val="solid"/>
          </a:ln>
        </p:spPr>
      </p:sp>
      <p:sp>
        <p:nvSpPr>
          <p:cNvPr id="30" name="">
            <a:extLst xmlns:a="http://schemas.openxmlformats.org/drawingml/2006/main">
              <a:ext uri="{FF2B5EF4-FFF2-40B4-BE49-F238E27FC236}">
                <a16:creationId xmlns:a16="http://schemas.microsoft.com/office/drawing/2014/main" id="{01B4A1B3-FE2A-401F-ADAB-713E6746FF65}"/>
              </a:ext>
            </a:extLst>
          </p:cNvPr>
          <p:cNvSpPr>
            <a:spLocks xmlns:a="http://schemas.openxmlformats.org/drawingml/2006/main" noGrp="1"/>
          </p:cNvSpPr>
          <p:nvPr/>
        </p:nvSpPr>
        <p:spPr>
          <a:xfrm xmlns:a="http://schemas.openxmlformats.org/drawingml/2006/main">
            <a:off x="8407400" y="4514850"/>
            <a:ext cx="247650" cy="123825"/>
          </a:xfrm>
          <a:prstGeom xmlns:a="http://schemas.openxmlformats.org/drawingml/2006/main" prst="roundRect">
            <a:avLst>
              <a:gd name="adj" fmla="val 50000"/>
            </a:avLst>
          </a:prstGeom>
          <a:solidFill xmlns:a="http://schemas.openxmlformats.org/drawingml/2006/main">
            <a:srgbClr val="D7A83D"/>
          </a:solidFill>
          <a:ln xmlns:a="http://schemas.openxmlformats.org/drawingml/2006/main" w="9525">
            <a:solidFill>
              <a:srgbClr val="101214"/>
            </a:solidFill>
            <a:prstDash val="solid"/>
          </a:ln>
        </p:spPr>
      </p:sp>
      <p:sp>
        <p:nvSpPr>
          <p:cNvPr id="31" name="">
            <a:extLst xmlns:a="http://schemas.openxmlformats.org/drawingml/2006/main">
              <a:ext uri="{FF2B5EF4-FFF2-40B4-BE49-F238E27FC236}">
                <a16:creationId xmlns:a16="http://schemas.microsoft.com/office/drawing/2014/main" id="{06E74977-8B77-4822-97E0-3689DC62EF79}"/>
              </a:ext>
            </a:extLst>
          </p:cNvPr>
          <p:cNvSpPr>
            <a:spLocks xmlns:a="http://schemas.openxmlformats.org/drawingml/2006/main" noGrp="1"/>
          </p:cNvSpPr>
          <p:nvPr/>
        </p:nvSpPr>
        <p:spPr>
          <a:xfrm xmlns:a="http://schemas.openxmlformats.org/drawingml/2006/main">
            <a:off x="8455025" y="4600575"/>
            <a:ext cx="190500" cy="95250"/>
          </a:xfrm>
          <a:prstGeom xmlns:a="http://schemas.openxmlformats.org/drawingml/2006/main" prst="roundRect">
            <a:avLst>
              <a:gd name="adj" fmla="val 50000"/>
            </a:avLst>
          </a:prstGeom>
          <a:solidFill xmlns:a="http://schemas.openxmlformats.org/drawingml/2006/main">
            <a:srgbClr val="E86F5B"/>
          </a:solidFill>
          <a:ln xmlns:a="http://schemas.openxmlformats.org/drawingml/2006/main" w="9525">
            <a:solidFill>
              <a:srgbClr val="101214"/>
            </a:solidFill>
            <a:prstDash val="solid"/>
          </a:ln>
        </p:spPr>
      </p:sp>
      <p:sp>
        <p:nvSpPr>
          <p:cNvPr id="32" name="">
            <a:extLst xmlns:a="http://schemas.openxmlformats.org/drawingml/2006/main">
              <a:ext uri="{FF2B5EF4-FFF2-40B4-BE49-F238E27FC236}">
                <a16:creationId xmlns:a16="http://schemas.microsoft.com/office/drawing/2014/main" id="{04E68EAA-1D19-4162-AF82-CA2002D99952}"/>
              </a:ext>
            </a:extLst>
          </p:cNvPr>
          <p:cNvSpPr>
            <a:spLocks xmlns:a="http://schemas.openxmlformats.org/drawingml/2006/main" noGrp="1"/>
          </p:cNvSpPr>
          <p:nvPr/>
        </p:nvSpPr>
        <p:spPr>
          <a:xfrm xmlns:a="http://schemas.openxmlformats.org/drawingml/2006/main">
            <a:off x="88646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日志追踪</a:t>
            </a:r>
          </a:p>
        </p:txBody>
      </p:sp>
      <p:sp>
        <p:nvSpPr>
          <p:cNvPr id="33" name="">
            <a:extLst xmlns:a="http://schemas.openxmlformats.org/drawingml/2006/main">
              <a:ext uri="{FF2B5EF4-FFF2-40B4-BE49-F238E27FC236}">
                <a16:creationId xmlns:a16="http://schemas.microsoft.com/office/drawing/2014/main" id="{B5CC75A0-7741-4C1E-A866-FD56FE22BF31}"/>
              </a:ext>
            </a:extLst>
          </p:cNvPr>
          <p:cNvSpPr>
            <a:spLocks xmlns:a="http://schemas.openxmlformats.org/drawingml/2006/main" noGrp="1"/>
          </p:cNvSpPr>
          <p:nvPr/>
        </p:nvSpPr>
        <p:spPr>
          <a:xfrm xmlns:a="http://schemas.openxmlformats.org/drawingml/2006/main">
            <a:off x="82550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所有关键操作和调度执行都会写入操作日志，支持分页查询与时间过滤。</a:t>
            </a:r>
          </a:p>
        </p:txBody>
      </p:sp>
      <p:sp>
        <p:nvSpPr>
          <p:cNvPr id="34" name="">
            <a:extLst xmlns:a="http://schemas.openxmlformats.org/drawingml/2006/main">
              <a:ext uri="{FF2B5EF4-FFF2-40B4-BE49-F238E27FC236}">
                <a16:creationId xmlns:a16="http://schemas.microsoft.com/office/drawing/2014/main" id="{F09C670C-CCC9-4A8E-896D-EBBA87B1E657}"/>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Generated art plate is used as visual direction; all meaningful copy and structure are editable PowerPoint objects.</a:t>
            </a:r>
          </a:p>
        </p:txBody>
      </p:sp>
    </p:spTree>
    <p:extLst>
      <p:ext uri="{BB962C8B-B14F-4D97-AF65-F5344CB8AC3E}">
        <p14:creationId xmlns:p14="http://schemas.microsoft.com/office/powerpoint/2010/main" val="1614218673"/>
      </p:ext>
    </p:extLst>
  </p:cSld>
</p:sld>
</file>

<file path=ppt/slides/slide9.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60678D0-8F19-458D-916B-46DD29A5E40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775cd21089e4416"/>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EDBE496-1120-45DC-B7F6-82FF3F1123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4118"/>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92112A9-52CB-4936-96BB-E87AB9E62908}"/>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SECTION 09</a:t>
            </a:r>
          </a:p>
        </p:txBody>
      </p:sp>
      <p:sp>
        <p:nvSpPr>
          <p:cNvPr id="5" name="">
            <a:extLst xmlns:a="http://schemas.openxmlformats.org/drawingml/2006/main">
              <a:ext uri="{FF2B5EF4-FFF2-40B4-BE49-F238E27FC236}">
                <a16:creationId xmlns:a16="http://schemas.microsoft.com/office/drawing/2014/main" id="{B47560F2-BBBD-4B3E-98E2-542F0183DBCA}"/>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09 / 10</a:t>
            </a:r>
          </a:p>
        </p:txBody>
      </p:sp>
      <p:sp>
        <p:nvSpPr>
          <p:cNvPr id="6" name="">
            <a:extLst xmlns:a="http://schemas.openxmlformats.org/drawingml/2006/main">
              <a:ext uri="{FF2B5EF4-FFF2-40B4-BE49-F238E27FC236}">
                <a16:creationId xmlns:a16="http://schemas.microsoft.com/office/drawing/2014/main" id="{DF169337-2972-41B9-A995-9BA4268687CE}"/>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2F197CE-34AD-4E63-AB27-222C1F8C9D26}"/>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8" name="">
            <a:extLst xmlns:a="http://schemas.openxmlformats.org/drawingml/2006/main">
              <a:ext uri="{FF2B5EF4-FFF2-40B4-BE49-F238E27FC236}">
                <a16:creationId xmlns:a16="http://schemas.microsoft.com/office/drawing/2014/main" id="{8D7B23A8-2A81-49EA-83EC-4CBEFC2DBC9F}"/>
              </a:ext>
            </a:extLst>
          </p:cNvPr>
          <p:cNvSpPr>
            <a:spLocks xmlns:a="http://schemas.openxmlformats.org/drawingml/2006/main" noGrp="1"/>
          </p:cNvSpPr>
          <p:nvPr/>
        </p:nvSpPr>
        <p:spPr>
          <a:xfrm xmlns:a="http://schemas.openxmlformats.org/drawingml/2006/main">
            <a:off x="609600" y="819150"/>
            <a:ext cx="66675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技术难点与解决方案</a:t>
            </a:r>
          </a:p>
        </p:txBody>
      </p:sp>
      <p:sp>
        <p:nvSpPr>
          <p:cNvPr id="9" name="">
            <a:extLst xmlns:a="http://schemas.openxmlformats.org/drawingml/2006/main">
              <a:ext uri="{FF2B5EF4-FFF2-40B4-BE49-F238E27FC236}">
                <a16:creationId xmlns:a16="http://schemas.microsoft.com/office/drawing/2014/main" id="{2CE1CA57-5BC1-42E6-8CE8-EF83455B893D}"/>
              </a:ext>
            </a:extLst>
          </p:cNvPr>
          <p:cNvSpPr>
            <a:spLocks xmlns:a="http://schemas.openxmlformats.org/drawingml/2006/main" noGrp="1"/>
          </p:cNvSpPr>
          <p:nvPr/>
        </p:nvSpPr>
        <p:spPr>
          <a:xfrm xmlns:a="http://schemas.openxmlformats.org/drawingml/2006/main">
            <a:off x="628650" y="2228850"/>
            <a:ext cx="6667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围绕跨平台构建、双模式通信、后台调度和三维展示解决关键实现问题。</a:t>
            </a:r>
          </a:p>
        </p:txBody>
      </p:sp>
      <p:sp>
        <p:nvSpPr>
          <p:cNvPr id="10" name="">
            <a:extLst xmlns:a="http://schemas.openxmlformats.org/drawingml/2006/main">
              <a:ext uri="{FF2B5EF4-FFF2-40B4-BE49-F238E27FC236}">
                <a16:creationId xmlns:a16="http://schemas.microsoft.com/office/drawing/2014/main" id="{C637D1A7-4CC9-4F55-9887-044FF27F655D}"/>
              </a:ext>
            </a:extLst>
          </p:cNvPr>
          <p:cNvSpPr>
            <a:spLocks xmlns:a="http://schemas.openxmlformats.org/drawingml/2006/main" noGrp="1"/>
          </p:cNvSpPr>
          <p:nvPr/>
        </p:nvSpPr>
        <p:spPr>
          <a:xfrm xmlns:a="http://schemas.openxmlformats.org/drawingml/2006/main">
            <a:off x="876300" y="3848100"/>
            <a:ext cx="3143250" cy="1657350"/>
          </a:xfrm>
          <a:prstGeom xmlns:a="http://schemas.openxmlformats.org/drawingml/2006/main" prst="roundRect">
            <a:avLst>
              <a:gd name="adj" fmla="val 4598"/>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1" name="">
            <a:extLst xmlns:a="http://schemas.openxmlformats.org/drawingml/2006/main">
              <a:ext uri="{FF2B5EF4-FFF2-40B4-BE49-F238E27FC236}">
                <a16:creationId xmlns:a16="http://schemas.microsoft.com/office/drawing/2014/main" id="{8C1253C0-CE81-4785-AC52-46D38272D314}"/>
              </a:ext>
            </a:extLst>
          </p:cNvPr>
          <p:cNvSpPr>
            <a:spLocks xmlns:a="http://schemas.openxmlformats.org/drawingml/2006/main" noGrp="1"/>
          </p:cNvSpPr>
          <p:nvPr/>
        </p:nvSpPr>
        <p:spPr>
          <a:xfrm xmlns:a="http://schemas.openxmlformats.org/drawingml/2006/main">
            <a:off x="876300" y="3848100"/>
            <a:ext cx="3143250" cy="66675"/>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F538A1D-53F7-46BC-8484-CE786FB5D45A}"/>
              </a:ext>
            </a:extLst>
          </p:cNvPr>
          <p:cNvSpPr>
            <a:spLocks xmlns:a="http://schemas.openxmlformats.org/drawingml/2006/main" noGrp="1"/>
          </p:cNvSpPr>
          <p:nvPr/>
        </p:nvSpPr>
        <p:spPr>
          <a:xfrm xmlns:a="http://schemas.openxmlformats.org/drawingml/2006/main">
            <a:off x="1085850" y="4076700"/>
            <a:ext cx="2724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01214"/>
                </a:solidFill>
              </a:defRPr>
            </a:pPr>
            <a:r>
              <a:rPr sz="2550" b="1">
                <a:solidFill>
                  <a:srgbClr val="101214"/>
                </a:solidFill>
              </a:rPr>
              <a:t>双模式</a:t>
            </a:r>
          </a:p>
        </p:txBody>
      </p:sp>
      <p:sp>
        <p:nvSpPr>
          <p:cNvPr id="13" name="">
            <a:extLst xmlns:a="http://schemas.openxmlformats.org/drawingml/2006/main">
              <a:ext uri="{FF2B5EF4-FFF2-40B4-BE49-F238E27FC236}">
                <a16:creationId xmlns:a16="http://schemas.microsoft.com/office/drawing/2014/main" id="{EFD738F4-F46E-4A6E-A711-1C024BFCF9CC}"/>
              </a:ext>
            </a:extLst>
          </p:cNvPr>
          <p:cNvSpPr>
            <a:spLocks xmlns:a="http://schemas.openxmlformats.org/drawingml/2006/main" noGrp="1"/>
          </p:cNvSpPr>
          <p:nvPr/>
        </p:nvSpPr>
        <p:spPr>
          <a:xfrm xmlns:a="http://schemas.openxmlformats.org/drawingml/2006/main">
            <a:off x="1104900" y="4629150"/>
            <a:ext cx="2686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0363A"/>
                </a:solidFill>
              </a:defRPr>
            </a:pPr>
            <a:r>
              <a:rPr sz="1200" b="0">
                <a:solidFill>
                  <a:srgbClr val="30363A"/>
                </a:solidFill>
              </a:rPr>
              <a:t>通信门面</a:t>
            </a:r>
          </a:p>
        </p:txBody>
      </p:sp>
      <p:sp>
        <p:nvSpPr>
          <p:cNvPr id="14" name="">
            <a:extLst xmlns:a="http://schemas.openxmlformats.org/drawingml/2006/main">
              <a:ext uri="{FF2B5EF4-FFF2-40B4-BE49-F238E27FC236}">
                <a16:creationId xmlns:a16="http://schemas.microsoft.com/office/drawing/2014/main" id="{F946A9F2-4632-4231-8747-B8AB53D97F4F}"/>
              </a:ext>
            </a:extLst>
          </p:cNvPr>
          <p:cNvSpPr>
            <a:spLocks xmlns:a="http://schemas.openxmlformats.org/drawingml/2006/main" noGrp="1"/>
          </p:cNvSpPr>
          <p:nvPr/>
        </p:nvSpPr>
        <p:spPr>
          <a:xfrm xmlns:a="http://schemas.openxmlformats.org/drawingml/2006/main">
            <a:off x="1104900" y="5105400"/>
            <a:ext cx="268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统一封装模拟器与 Modbus TCP，减少上层业务差异</a:t>
            </a:r>
          </a:p>
        </p:txBody>
      </p:sp>
      <p:sp>
        <p:nvSpPr>
          <p:cNvPr id="15" name="">
            <a:extLst xmlns:a="http://schemas.openxmlformats.org/drawingml/2006/main">
              <a:ext uri="{FF2B5EF4-FFF2-40B4-BE49-F238E27FC236}">
                <a16:creationId xmlns:a16="http://schemas.microsoft.com/office/drawing/2014/main" id="{7B5A7858-FC17-41C3-86D5-3EBD973FECBE}"/>
              </a:ext>
            </a:extLst>
          </p:cNvPr>
          <p:cNvSpPr>
            <a:spLocks xmlns:a="http://schemas.openxmlformats.org/drawingml/2006/main" noGrp="1"/>
          </p:cNvSpPr>
          <p:nvPr/>
        </p:nvSpPr>
        <p:spPr>
          <a:xfrm xmlns:a="http://schemas.openxmlformats.org/drawingml/2006/main">
            <a:off x="4400550" y="3848100"/>
            <a:ext cx="3143250" cy="1657350"/>
          </a:xfrm>
          <a:prstGeom xmlns:a="http://schemas.openxmlformats.org/drawingml/2006/main" prst="roundRect">
            <a:avLst>
              <a:gd name="adj" fmla="val 4598"/>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6" name="">
            <a:extLst xmlns:a="http://schemas.openxmlformats.org/drawingml/2006/main">
              <a:ext uri="{FF2B5EF4-FFF2-40B4-BE49-F238E27FC236}">
                <a16:creationId xmlns:a16="http://schemas.microsoft.com/office/drawing/2014/main" id="{70A63F60-1ADD-458D-B21B-8B8C93958BA2}"/>
              </a:ext>
            </a:extLst>
          </p:cNvPr>
          <p:cNvSpPr>
            <a:spLocks xmlns:a="http://schemas.openxmlformats.org/drawingml/2006/main" noGrp="1"/>
          </p:cNvSpPr>
          <p:nvPr/>
        </p:nvSpPr>
        <p:spPr>
          <a:xfrm xmlns:a="http://schemas.openxmlformats.org/drawingml/2006/main">
            <a:off x="4400550" y="3848100"/>
            <a:ext cx="3143250" cy="66675"/>
          </a:xfrm>
          <a:prstGeom xmlns:a="http://schemas.openxmlformats.org/drawingml/2006/main" prst="rect">
            <a:avLst/>
          </a:prstGeom>
          <a:solidFill xmlns:a="http://schemas.openxmlformats.org/drawingml/2006/main">
            <a:srgbClr val="D7A83D"/>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728482B3-38E2-47F1-BAEF-AE227AA8C82A}"/>
              </a:ext>
            </a:extLst>
          </p:cNvPr>
          <p:cNvSpPr>
            <a:spLocks xmlns:a="http://schemas.openxmlformats.org/drawingml/2006/main" noGrp="1"/>
          </p:cNvSpPr>
          <p:nvPr/>
        </p:nvSpPr>
        <p:spPr>
          <a:xfrm xmlns:a="http://schemas.openxmlformats.org/drawingml/2006/main">
            <a:off x="4610100" y="4076700"/>
            <a:ext cx="2724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01214"/>
                </a:solidFill>
              </a:defRPr>
            </a:pPr>
            <a:r>
              <a:rPr sz="2550" b="1">
                <a:solidFill>
                  <a:srgbClr val="101214"/>
                </a:solidFill>
              </a:rPr>
              <a:t>后台执行</a:t>
            </a:r>
          </a:p>
        </p:txBody>
      </p:sp>
      <p:sp>
        <p:nvSpPr>
          <p:cNvPr id="18" name="">
            <a:extLst xmlns:a="http://schemas.openxmlformats.org/drawingml/2006/main">
              <a:ext uri="{FF2B5EF4-FFF2-40B4-BE49-F238E27FC236}">
                <a16:creationId xmlns:a16="http://schemas.microsoft.com/office/drawing/2014/main" id="{0681868A-22E1-4796-BCCF-76404C673A6F}"/>
              </a:ext>
            </a:extLst>
          </p:cNvPr>
          <p:cNvSpPr>
            <a:spLocks xmlns:a="http://schemas.openxmlformats.org/drawingml/2006/main" noGrp="1"/>
          </p:cNvSpPr>
          <p:nvPr/>
        </p:nvSpPr>
        <p:spPr>
          <a:xfrm xmlns:a="http://schemas.openxmlformats.org/drawingml/2006/main">
            <a:off x="4629150" y="4629150"/>
            <a:ext cx="2686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0363A"/>
                </a:solidFill>
              </a:defRPr>
            </a:pPr>
            <a:r>
              <a:rPr sz="1200" b="0">
                <a:solidFill>
                  <a:srgbClr val="30363A"/>
                </a:solidFill>
              </a:rPr>
              <a:t>调度隔离</a:t>
            </a:r>
          </a:p>
        </p:txBody>
      </p:sp>
      <p:sp>
        <p:nvSpPr>
          <p:cNvPr id="19" name="">
            <a:extLst xmlns:a="http://schemas.openxmlformats.org/drawingml/2006/main">
              <a:ext uri="{FF2B5EF4-FFF2-40B4-BE49-F238E27FC236}">
                <a16:creationId xmlns:a16="http://schemas.microsoft.com/office/drawing/2014/main" id="{01D7F04B-7961-4759-94E4-845A875D6E6B}"/>
              </a:ext>
            </a:extLst>
          </p:cNvPr>
          <p:cNvSpPr>
            <a:spLocks xmlns:a="http://schemas.openxmlformats.org/drawingml/2006/main" noGrp="1"/>
          </p:cNvSpPr>
          <p:nvPr/>
        </p:nvSpPr>
        <p:spPr>
          <a:xfrm xmlns:a="http://schemas.openxmlformats.org/drawingml/2006/main">
            <a:off x="4629150" y="5105400"/>
            <a:ext cx="268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共享调度器 + 独立作用域执行，避免 DbContext 跨线程风险</a:t>
            </a:r>
          </a:p>
        </p:txBody>
      </p:sp>
      <p:sp>
        <p:nvSpPr>
          <p:cNvPr id="20" name="">
            <a:extLst xmlns:a="http://schemas.openxmlformats.org/drawingml/2006/main">
              <a:ext uri="{FF2B5EF4-FFF2-40B4-BE49-F238E27FC236}">
                <a16:creationId xmlns:a16="http://schemas.microsoft.com/office/drawing/2014/main" id="{7DDC2295-4CE9-466B-B27D-DAD3351E9F11}"/>
              </a:ext>
            </a:extLst>
          </p:cNvPr>
          <p:cNvSpPr>
            <a:spLocks xmlns:a="http://schemas.openxmlformats.org/drawingml/2006/main" noGrp="1"/>
          </p:cNvSpPr>
          <p:nvPr/>
        </p:nvSpPr>
        <p:spPr>
          <a:xfrm xmlns:a="http://schemas.openxmlformats.org/drawingml/2006/main">
            <a:off x="7924800" y="3848100"/>
            <a:ext cx="3143250" cy="1657350"/>
          </a:xfrm>
          <a:prstGeom xmlns:a="http://schemas.openxmlformats.org/drawingml/2006/main" prst="roundRect">
            <a:avLst>
              <a:gd name="adj" fmla="val 4598"/>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1" name="">
            <a:extLst xmlns:a="http://schemas.openxmlformats.org/drawingml/2006/main">
              <a:ext uri="{FF2B5EF4-FFF2-40B4-BE49-F238E27FC236}">
                <a16:creationId xmlns:a16="http://schemas.microsoft.com/office/drawing/2014/main" id="{F25612BF-98AE-4007-99B8-8D8118CB6161}"/>
              </a:ext>
            </a:extLst>
          </p:cNvPr>
          <p:cNvSpPr>
            <a:spLocks xmlns:a="http://schemas.openxmlformats.org/drawingml/2006/main" noGrp="1"/>
          </p:cNvSpPr>
          <p:nvPr/>
        </p:nvSpPr>
        <p:spPr>
          <a:xfrm xmlns:a="http://schemas.openxmlformats.org/drawingml/2006/main">
            <a:off x="7924800" y="3848100"/>
            <a:ext cx="3143250" cy="66675"/>
          </a:xfrm>
          <a:prstGeom xmlns:a="http://schemas.openxmlformats.org/drawingml/2006/main" prst="rect">
            <a:avLst/>
          </a:prstGeom>
          <a:solidFill xmlns:a="http://schemas.openxmlformats.org/drawingml/2006/main">
            <a:srgbClr val="E86F5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3CF607D8-0F5C-4142-ABBE-64CE3C3F01F6}"/>
              </a:ext>
            </a:extLst>
          </p:cNvPr>
          <p:cNvSpPr>
            <a:spLocks xmlns:a="http://schemas.openxmlformats.org/drawingml/2006/main" noGrp="1"/>
          </p:cNvSpPr>
          <p:nvPr/>
        </p:nvSpPr>
        <p:spPr>
          <a:xfrm xmlns:a="http://schemas.openxmlformats.org/drawingml/2006/main">
            <a:off x="8134350" y="4076700"/>
            <a:ext cx="2724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01214"/>
                </a:solidFill>
              </a:defRPr>
            </a:pPr>
            <a:r>
              <a:rPr sz="2550" b="1">
                <a:solidFill>
                  <a:srgbClr val="101214"/>
                </a:solidFill>
              </a:rPr>
              <a:t>跨平台</a:t>
            </a:r>
          </a:p>
        </p:txBody>
      </p:sp>
      <p:sp>
        <p:nvSpPr>
          <p:cNvPr id="23" name="">
            <a:extLst xmlns:a="http://schemas.openxmlformats.org/drawingml/2006/main">
              <a:ext uri="{FF2B5EF4-FFF2-40B4-BE49-F238E27FC236}">
                <a16:creationId xmlns:a16="http://schemas.microsoft.com/office/drawing/2014/main" id="{E85A1ED1-984F-42FB-9FA0-0BFF3E20FCC2}"/>
              </a:ext>
            </a:extLst>
          </p:cNvPr>
          <p:cNvSpPr>
            <a:spLocks xmlns:a="http://schemas.openxmlformats.org/drawingml/2006/main" noGrp="1"/>
          </p:cNvSpPr>
          <p:nvPr/>
        </p:nvSpPr>
        <p:spPr>
          <a:xfrm xmlns:a="http://schemas.openxmlformats.org/drawingml/2006/main">
            <a:off x="8153400" y="4629150"/>
            <a:ext cx="2686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0363A"/>
                </a:solidFill>
              </a:defRPr>
            </a:pPr>
            <a:r>
              <a:rPr sz="1200" b="0">
                <a:solidFill>
                  <a:srgbClr val="30363A"/>
                </a:solidFill>
              </a:rPr>
              <a:t>构建验证</a:t>
            </a:r>
          </a:p>
        </p:txBody>
      </p:sp>
      <p:sp>
        <p:nvSpPr>
          <p:cNvPr id="24" name="">
            <a:extLst xmlns:a="http://schemas.openxmlformats.org/drawingml/2006/main">
              <a:ext uri="{FF2B5EF4-FFF2-40B4-BE49-F238E27FC236}">
                <a16:creationId xmlns:a16="http://schemas.microsoft.com/office/drawing/2014/main" id="{5889E461-76B5-4B4A-8222-306ABEA667F5}"/>
              </a:ext>
            </a:extLst>
          </p:cNvPr>
          <p:cNvSpPr>
            <a:spLocks xmlns:a="http://schemas.openxmlformats.org/drawingml/2006/main" noGrp="1"/>
          </p:cNvSpPr>
          <p:nvPr/>
        </p:nvSpPr>
        <p:spPr>
          <a:xfrm xmlns:a="http://schemas.openxmlformats.org/drawingml/2006/main">
            <a:off x="8153400" y="5105400"/>
            <a:ext cx="26860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非 Windows 环境完成构建与测试，Windows 负责最终 UI 运行验收</a:t>
            </a:r>
          </a:p>
        </p:txBody>
      </p:sp>
      <p:sp>
        <p:nvSpPr>
          <p:cNvPr id="25" name="">
            <a:extLst xmlns:a="http://schemas.openxmlformats.org/drawingml/2006/main">
              <a:ext uri="{FF2B5EF4-FFF2-40B4-BE49-F238E27FC236}">
                <a16:creationId xmlns:a16="http://schemas.microsoft.com/office/drawing/2014/main" id="{581DC3EC-98FA-49A4-9FF1-1595776C1784}"/>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Generated art plate is used as visual direction; all meaningful copy and structure are editable PowerPoint objects.</a:t>
            </a:r>
          </a:p>
        </p:txBody>
      </p:sp>
    </p:spTree>
    <p:extLst>
      <p:ext uri="{BB962C8B-B14F-4D97-AF65-F5344CB8AC3E}">
        <p14:creationId xmlns:p14="http://schemas.microsoft.com/office/powerpoint/2010/main" val="51596021"/>
      </p:ext>
    </p:extLst>
  </p:cSld>
</p:sld>
</file>

<file path=ppt/slides/slide10.xml><?xml version="1.0" encoding="utf-8"?>
<p:sld xmlns:p="http://schemas.openxmlformats.org/presentationml/2006/main">
  <p:cSld>
    <p:bg>
      <p:bgPr>
        <a:solidFill xmlns:a="http://schemas.openxmlformats.org/drawingml/2006/main">
          <a:srgbClr val="F7F4ED"/>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60678D0-8F19-458D-916B-46DD29A5E40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3ef0dbc0e5b467a"/>
          <a:srcRect xmlns:a="http://schemas.openxmlformats.org/drawingml/2006/main" l="0" t="21875" r="0" b="2187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FB3F771-2713-49CC-8D63-FB2F57D2E4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alpha val="72157"/>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C561750-1FAD-45BA-B22F-00F8C93A2F00}"/>
              </a:ext>
            </a:extLst>
          </p:cNvPr>
          <p:cNvSpPr>
            <a:spLocks xmlns:a="http://schemas.openxmlformats.org/drawingml/2006/main" noGrp="1"/>
          </p:cNvSpPr>
          <p:nvPr/>
        </p:nvSpPr>
        <p:spPr>
          <a:xfrm xmlns:a="http://schemas.openxmlformats.org/drawingml/2006/main">
            <a:off x="609600" y="323850"/>
            <a:ext cx="409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16B49"/>
                </a:solidFill>
              </a:defRPr>
            </a:pPr>
            <a:r>
              <a:rPr sz="975" b="1">
                <a:solidFill>
                  <a:srgbClr val="116B49"/>
                </a:solidFill>
              </a:rPr>
              <a:t>SECTION 10</a:t>
            </a:r>
          </a:p>
        </p:txBody>
      </p:sp>
      <p:sp>
        <p:nvSpPr>
          <p:cNvPr id="5" name="">
            <a:extLst xmlns:a="http://schemas.openxmlformats.org/drawingml/2006/main">
              <a:ext uri="{FF2B5EF4-FFF2-40B4-BE49-F238E27FC236}">
                <a16:creationId xmlns:a16="http://schemas.microsoft.com/office/drawing/2014/main" id="{6A2B303F-8415-4B6E-BBE1-5084B778636C}"/>
              </a:ext>
            </a:extLst>
          </p:cNvPr>
          <p:cNvSpPr>
            <a:spLocks xmlns:a="http://schemas.openxmlformats.org/drawingml/2006/main" noGrp="1"/>
          </p:cNvSpPr>
          <p:nvPr/>
        </p:nvSpPr>
        <p:spPr>
          <a:xfrm xmlns:a="http://schemas.openxmlformats.org/drawingml/2006/main">
            <a:off x="10610850" y="323850"/>
            <a:ext cx="990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116B49"/>
                </a:solidFill>
              </a:defRPr>
            </a:pPr>
            <a:r>
              <a:rPr sz="975" b="1">
                <a:solidFill>
                  <a:srgbClr val="116B49"/>
                </a:solidFill>
              </a:rPr>
              <a:t>10 / 10</a:t>
            </a:r>
          </a:p>
        </p:txBody>
      </p:sp>
      <p:sp>
        <p:nvSpPr>
          <p:cNvPr id="6" name="">
            <a:extLst xmlns:a="http://schemas.openxmlformats.org/drawingml/2006/main">
              <a:ext uri="{FF2B5EF4-FFF2-40B4-BE49-F238E27FC236}">
                <a16:creationId xmlns:a16="http://schemas.microsoft.com/office/drawing/2014/main" id="{876C15A1-4DBE-421E-A25F-75D7D19846EC}"/>
              </a:ext>
            </a:extLst>
          </p:cNvPr>
          <p:cNvSpPr>
            <a:spLocks xmlns:a="http://schemas.openxmlformats.org/drawingml/2006/main" noGrp="1"/>
          </p:cNvSpPr>
          <p:nvPr/>
        </p:nvSpPr>
        <p:spPr>
          <a:xfrm xmlns:a="http://schemas.openxmlformats.org/drawingml/2006/main">
            <a:off x="609600" y="609600"/>
            <a:ext cx="10972800" cy="19050"/>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1705676-A620-4AA1-8165-0F5C243E4CF4}"/>
              </a:ext>
            </a:extLst>
          </p:cNvPr>
          <p:cNvSpPr>
            <a:spLocks xmlns:a="http://schemas.openxmlformats.org/drawingml/2006/main" noGrp="1"/>
          </p:cNvSpPr>
          <p:nvPr/>
        </p:nvSpPr>
        <p:spPr>
          <a:xfrm xmlns:a="http://schemas.openxmlformats.org/drawingml/2006/main">
            <a:off x="542925" y="542925"/>
            <a:ext cx="152400" cy="152400"/>
          </a:xfrm>
          <a:prstGeom xmlns:a="http://schemas.openxmlformats.org/drawingml/2006/main" prst="ellipse">
            <a:avLst/>
          </a:prstGeom>
          <a:solidFill xmlns:a="http://schemas.openxmlformats.org/drawingml/2006/main">
            <a:srgbClr val="27C47D"/>
          </a:solidFill>
          <a:ln xmlns:a="http://schemas.openxmlformats.org/drawingml/2006/main" w="19050">
            <a:solidFill>
              <a:srgbClr val="101214"/>
            </a:solidFill>
            <a:prstDash val="solid"/>
          </a:ln>
        </p:spPr>
      </p:sp>
      <p:sp>
        <p:nvSpPr>
          <p:cNvPr id="8" name="">
            <a:extLst xmlns:a="http://schemas.openxmlformats.org/drawingml/2006/main">
              <a:ext uri="{FF2B5EF4-FFF2-40B4-BE49-F238E27FC236}">
                <a16:creationId xmlns:a16="http://schemas.microsoft.com/office/drawing/2014/main" id="{D558C9ED-0EB1-45A4-B917-04CB23DA2179}"/>
              </a:ext>
            </a:extLst>
          </p:cNvPr>
          <p:cNvSpPr>
            <a:spLocks xmlns:a="http://schemas.openxmlformats.org/drawingml/2006/main" noGrp="1"/>
          </p:cNvSpPr>
          <p:nvPr/>
        </p:nvSpPr>
        <p:spPr>
          <a:xfrm xmlns:a="http://schemas.openxmlformats.org/drawingml/2006/main">
            <a:off x="609600" y="819150"/>
            <a:ext cx="7239000" cy="1352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101214"/>
                </a:solidFill>
              </a:defRPr>
            </a:pPr>
            <a:r>
              <a:rPr sz="3000" b="1">
                <a:solidFill>
                  <a:srgbClr val="101214"/>
                </a:solidFill>
              </a:rPr>
              <a:t>总结与展望</a:t>
            </a:r>
          </a:p>
        </p:txBody>
      </p:sp>
      <p:sp>
        <p:nvSpPr>
          <p:cNvPr id="9" name="">
            <a:extLst xmlns:a="http://schemas.openxmlformats.org/drawingml/2006/main">
              <a:ext uri="{FF2B5EF4-FFF2-40B4-BE49-F238E27FC236}">
                <a16:creationId xmlns:a16="http://schemas.microsoft.com/office/drawing/2014/main" id="{F382EEDD-9E2C-4AF7-A7D8-E34246BD4992}"/>
              </a:ext>
            </a:extLst>
          </p:cNvPr>
          <p:cNvSpPr>
            <a:spLocks xmlns:a="http://schemas.openxmlformats.org/drawingml/2006/main" noGrp="1"/>
          </p:cNvSpPr>
          <p:nvPr/>
        </p:nvSpPr>
        <p:spPr>
          <a:xfrm xmlns:a="http://schemas.openxmlformats.org/drawingml/2006/main">
            <a:off x="628650" y="2228850"/>
            <a:ext cx="6858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30363A"/>
                </a:solidFill>
              </a:defRPr>
            </a:pPr>
            <a:r>
              <a:rPr sz="1425" b="0">
                <a:solidFill>
                  <a:srgbClr val="30363A"/>
                </a:solidFill>
              </a:rPr>
              <a:t>系统已完成毕业设计目标中的主要功能，并具备继续工程化拓展的基础。</a:t>
            </a:r>
          </a:p>
        </p:txBody>
      </p:sp>
      <p:sp>
        <p:nvSpPr>
          <p:cNvPr id="10" name="">
            <a:extLst xmlns:a="http://schemas.openxmlformats.org/drawingml/2006/main">
              <a:ext uri="{FF2B5EF4-FFF2-40B4-BE49-F238E27FC236}">
                <a16:creationId xmlns:a16="http://schemas.microsoft.com/office/drawing/2014/main" id="{C7C302DD-555C-4CA0-AF7A-B8CCEC30F2A2}"/>
              </a:ext>
            </a:extLst>
          </p:cNvPr>
          <p:cNvSpPr>
            <a:spLocks xmlns:a="http://schemas.openxmlformats.org/drawingml/2006/main" noGrp="1"/>
          </p:cNvSpPr>
          <p:nvPr/>
        </p:nvSpPr>
        <p:spPr>
          <a:xfrm xmlns:a="http://schemas.openxmlformats.org/drawingml/2006/main">
            <a:off x="8001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1" name="">
            <a:extLst xmlns:a="http://schemas.openxmlformats.org/drawingml/2006/main">
              <a:ext uri="{FF2B5EF4-FFF2-40B4-BE49-F238E27FC236}">
                <a16:creationId xmlns:a16="http://schemas.microsoft.com/office/drawing/2014/main" id="{5B953C9C-7815-42FD-8E8B-F27B81843EBD}"/>
              </a:ext>
            </a:extLst>
          </p:cNvPr>
          <p:cNvSpPr>
            <a:spLocks xmlns:a="http://schemas.openxmlformats.org/drawingml/2006/main" noGrp="1"/>
          </p:cNvSpPr>
          <p:nvPr/>
        </p:nvSpPr>
        <p:spPr>
          <a:xfrm xmlns:a="http://schemas.openxmlformats.org/drawingml/2006/main">
            <a:off x="8001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72100FC7-1713-4372-A11D-A8F3F57C2C3E}"/>
              </a:ext>
            </a:extLst>
          </p:cNvPr>
          <p:cNvSpPr>
            <a:spLocks xmlns:a="http://schemas.openxmlformats.org/drawingml/2006/main" noGrp="1"/>
          </p:cNvSpPr>
          <p:nvPr/>
        </p:nvSpPr>
        <p:spPr>
          <a:xfrm xmlns:a="http://schemas.openxmlformats.org/drawingml/2006/main">
            <a:off x="10096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3" name="">
            <a:extLst xmlns:a="http://schemas.openxmlformats.org/drawingml/2006/main">
              <a:ext uri="{FF2B5EF4-FFF2-40B4-BE49-F238E27FC236}">
                <a16:creationId xmlns:a16="http://schemas.microsoft.com/office/drawing/2014/main" id="{9D4995F4-7FD2-4186-9F2B-9CC452138A1B}"/>
              </a:ext>
            </a:extLst>
          </p:cNvPr>
          <p:cNvSpPr>
            <a:spLocks xmlns:a="http://schemas.openxmlformats.org/drawingml/2006/main" noGrp="1"/>
          </p:cNvSpPr>
          <p:nvPr/>
        </p:nvSpPr>
        <p:spPr>
          <a:xfrm xmlns:a="http://schemas.openxmlformats.org/drawingml/2006/main">
            <a:off x="1162050" y="4562475"/>
            <a:ext cx="57150" cy="1143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DC64F458-4FA8-4D48-8BE1-E49D41A8675B}"/>
              </a:ext>
            </a:extLst>
          </p:cNvPr>
          <p:cNvSpPr>
            <a:spLocks xmlns:a="http://schemas.openxmlformats.org/drawingml/2006/main" noGrp="1"/>
          </p:cNvSpPr>
          <p:nvPr/>
        </p:nvSpPr>
        <p:spPr>
          <a:xfrm xmlns:a="http://schemas.openxmlformats.org/drawingml/2006/main">
            <a:off x="1247775" y="4486275"/>
            <a:ext cx="57150" cy="1905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CD727BB-FF59-454A-B3C3-2C4D1202EC26}"/>
              </a:ext>
            </a:extLst>
          </p:cNvPr>
          <p:cNvSpPr>
            <a:spLocks xmlns:a="http://schemas.openxmlformats.org/drawingml/2006/main" noGrp="1"/>
          </p:cNvSpPr>
          <p:nvPr/>
        </p:nvSpPr>
        <p:spPr>
          <a:xfrm xmlns:a="http://schemas.openxmlformats.org/drawingml/2006/main">
            <a:off x="1333500" y="4419600"/>
            <a:ext cx="57150" cy="257175"/>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1C7D2CF-A9E3-4A06-ADC1-6022BF4AF461}"/>
              </a:ext>
            </a:extLst>
          </p:cNvPr>
          <p:cNvSpPr>
            <a:spLocks xmlns:a="http://schemas.openxmlformats.org/drawingml/2006/main" noGrp="1"/>
          </p:cNvSpPr>
          <p:nvPr/>
        </p:nvSpPr>
        <p:spPr>
          <a:xfrm xmlns:a="http://schemas.openxmlformats.org/drawingml/2006/main">
            <a:off x="16383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已完成成果</a:t>
            </a:r>
          </a:p>
        </p:txBody>
      </p:sp>
      <p:sp>
        <p:nvSpPr>
          <p:cNvPr id="17" name="">
            <a:extLst xmlns:a="http://schemas.openxmlformats.org/drawingml/2006/main">
              <a:ext uri="{FF2B5EF4-FFF2-40B4-BE49-F238E27FC236}">
                <a16:creationId xmlns:a16="http://schemas.microsoft.com/office/drawing/2014/main" id="{A4E5A849-FCEB-4385-AD88-5B6CCDB8E3B7}"/>
              </a:ext>
            </a:extLst>
          </p:cNvPr>
          <p:cNvSpPr>
            <a:spLocks xmlns:a="http://schemas.openxmlformats.org/drawingml/2006/main" noGrp="1"/>
          </p:cNvSpPr>
          <p:nvPr/>
        </p:nvSpPr>
        <p:spPr>
          <a:xfrm xmlns:a="http://schemas.openxmlformats.org/drawingml/2006/main">
            <a:off x="10287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完成 WPF 桌面系统、测试工程、Figma</a:t>
            </a:r>
          </a:p>
          <a:p xmlns:a="http://schemas.openxmlformats.org/drawingml/2006/main">
            <a:pPr algn="l">
              <a:defRPr sz="1125" b="0">
                <a:solidFill>
                  <a:srgbClr val="101214"/>
                </a:solidFill>
              </a:defRPr>
            </a:pPr>
            <a:r>
              <a:rPr sz="1125" b="0">
                <a:solidFill>
                  <a:srgbClr val="101214"/>
                </a:solidFill>
              </a:rPr>
              <a:t>设计稿、FigJam 架构图与本地答辩演示文稿。</a:t>
            </a:r>
          </a:p>
        </p:txBody>
      </p:sp>
      <p:sp>
        <p:nvSpPr>
          <p:cNvPr id="18" name="">
            <a:extLst xmlns:a="http://schemas.openxmlformats.org/drawingml/2006/main">
              <a:ext uri="{FF2B5EF4-FFF2-40B4-BE49-F238E27FC236}">
                <a16:creationId xmlns:a16="http://schemas.microsoft.com/office/drawing/2014/main" id="{57B91B70-5EF3-4EFF-A66C-7F77C5B6A446}"/>
              </a:ext>
            </a:extLst>
          </p:cNvPr>
          <p:cNvSpPr>
            <a:spLocks xmlns:a="http://schemas.openxmlformats.org/drawingml/2006/main" noGrp="1"/>
          </p:cNvSpPr>
          <p:nvPr/>
        </p:nvSpPr>
        <p:spPr>
          <a:xfrm xmlns:a="http://schemas.openxmlformats.org/drawingml/2006/main">
            <a:off x="441325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19" name="">
            <a:extLst xmlns:a="http://schemas.openxmlformats.org/drawingml/2006/main">
              <a:ext uri="{FF2B5EF4-FFF2-40B4-BE49-F238E27FC236}">
                <a16:creationId xmlns:a16="http://schemas.microsoft.com/office/drawing/2014/main" id="{F7E363A5-F8AC-4644-8CFC-BFCE9C21F04B}"/>
              </a:ext>
            </a:extLst>
          </p:cNvPr>
          <p:cNvSpPr>
            <a:spLocks xmlns:a="http://schemas.openxmlformats.org/drawingml/2006/main" noGrp="1"/>
          </p:cNvSpPr>
          <p:nvPr/>
        </p:nvSpPr>
        <p:spPr>
          <a:xfrm xmlns:a="http://schemas.openxmlformats.org/drawingml/2006/main">
            <a:off x="441325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707A71F-A3B3-4FED-B8BE-D70E6431835D}"/>
              </a:ext>
            </a:extLst>
          </p:cNvPr>
          <p:cNvSpPr>
            <a:spLocks xmlns:a="http://schemas.openxmlformats.org/drawingml/2006/main" noGrp="1"/>
          </p:cNvSpPr>
          <p:nvPr/>
        </p:nvSpPr>
        <p:spPr>
          <a:xfrm xmlns:a="http://schemas.openxmlformats.org/drawingml/2006/main">
            <a:off x="462280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1" name="">
            <a:extLst xmlns:a="http://schemas.openxmlformats.org/drawingml/2006/main">
              <a:ext uri="{FF2B5EF4-FFF2-40B4-BE49-F238E27FC236}">
                <a16:creationId xmlns:a16="http://schemas.microsoft.com/office/drawing/2014/main" id="{8C6C1F2C-4A80-4342-87DC-C8982A143E24}"/>
              </a:ext>
            </a:extLst>
          </p:cNvPr>
          <p:cNvSpPr>
            <a:spLocks xmlns:a="http://schemas.openxmlformats.org/drawingml/2006/main" noGrp="1"/>
          </p:cNvSpPr>
          <p:nvPr/>
        </p:nvSpPr>
        <p:spPr>
          <a:xfrm xmlns:a="http://schemas.openxmlformats.org/drawingml/2006/main">
            <a:off x="4746625" y="4457700"/>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2" name="">
            <a:extLst xmlns:a="http://schemas.openxmlformats.org/drawingml/2006/main">
              <a:ext uri="{FF2B5EF4-FFF2-40B4-BE49-F238E27FC236}">
                <a16:creationId xmlns:a16="http://schemas.microsoft.com/office/drawing/2014/main" id="{03FBC573-3A1F-41FB-8D02-7090A0BFD99D}"/>
              </a:ext>
            </a:extLst>
          </p:cNvPr>
          <p:cNvSpPr>
            <a:spLocks xmlns:a="http://schemas.openxmlformats.org/drawingml/2006/main" noGrp="1"/>
          </p:cNvSpPr>
          <p:nvPr/>
        </p:nvSpPr>
        <p:spPr>
          <a:xfrm xmlns:a="http://schemas.openxmlformats.org/drawingml/2006/main">
            <a:off x="4918075" y="4543425"/>
            <a:ext cx="95250" cy="95250"/>
          </a:xfrm>
          <a:prstGeom xmlns:a="http://schemas.openxmlformats.org/drawingml/2006/main" prst="ellipse">
            <a:avLst/>
          </a:prstGeom>
          <a:solidFill xmlns:a="http://schemas.openxmlformats.org/drawingml/2006/main">
            <a:srgbClr val="27C47D"/>
          </a:solidFill>
          <a:ln xmlns:a="http://schemas.openxmlformats.org/drawingml/2006/main" w="9525">
            <a:solidFill>
              <a:srgbClr val="101214"/>
            </a:solidFill>
            <a:prstDash val="solid"/>
          </a:ln>
        </p:spPr>
      </p:sp>
      <p:sp>
        <p:nvSpPr>
          <p:cNvPr id="23" name="">
            <a:extLst xmlns:a="http://schemas.openxmlformats.org/drawingml/2006/main">
              <a:ext uri="{FF2B5EF4-FFF2-40B4-BE49-F238E27FC236}">
                <a16:creationId xmlns:a16="http://schemas.microsoft.com/office/drawing/2014/main" id="{8F92CCB0-1296-439F-881F-136DF455409A}"/>
              </a:ext>
            </a:extLst>
          </p:cNvPr>
          <p:cNvSpPr>
            <a:spLocks xmlns:a="http://schemas.openxmlformats.org/drawingml/2006/main" noGrp="1"/>
          </p:cNvSpPr>
          <p:nvPr/>
        </p:nvSpPr>
        <p:spPr>
          <a:xfrm xmlns:a="http://schemas.openxmlformats.org/drawingml/2006/main">
            <a:off x="4832350" y="4524375"/>
            <a:ext cx="180975" cy="28575"/>
          </a:xfrm>
          <a:prstGeom xmlns:a="http://schemas.openxmlformats.org/drawingml/2006/main" prst="rect">
            <a:avLst/>
          </a:prstGeom>
          <a:solidFill xmlns:a="http://schemas.openxmlformats.org/drawingml/2006/main">
            <a:srgbClr val="101214"/>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C4C9C3E0-227D-418A-8E1A-833042FAF6F5}"/>
              </a:ext>
            </a:extLst>
          </p:cNvPr>
          <p:cNvSpPr>
            <a:spLocks xmlns:a="http://schemas.openxmlformats.org/drawingml/2006/main" noGrp="1"/>
          </p:cNvSpPr>
          <p:nvPr/>
        </p:nvSpPr>
        <p:spPr>
          <a:xfrm xmlns:a="http://schemas.openxmlformats.org/drawingml/2006/main">
            <a:off x="525145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系统特点</a:t>
            </a:r>
          </a:p>
        </p:txBody>
      </p:sp>
      <p:sp>
        <p:nvSpPr>
          <p:cNvPr id="25" name="">
            <a:extLst xmlns:a="http://schemas.openxmlformats.org/drawingml/2006/main">
              <a:ext uri="{FF2B5EF4-FFF2-40B4-BE49-F238E27FC236}">
                <a16:creationId xmlns:a16="http://schemas.microsoft.com/office/drawing/2014/main" id="{CA734CAF-68FB-4393-91A1-50AAB5258BBE}"/>
              </a:ext>
            </a:extLst>
          </p:cNvPr>
          <p:cNvSpPr>
            <a:spLocks xmlns:a="http://schemas.openxmlformats.org/drawingml/2006/main" noGrp="1"/>
          </p:cNvSpPr>
          <p:nvPr/>
        </p:nvSpPr>
        <p:spPr>
          <a:xfrm xmlns:a="http://schemas.openxmlformats.org/drawingml/2006/main">
            <a:off x="464185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具备可视化、可控制、可调度、可统计、可扩展等特点，满足毕业设计演示要求。</a:t>
            </a:r>
          </a:p>
        </p:txBody>
      </p:sp>
      <p:sp>
        <p:nvSpPr>
          <p:cNvPr id="26" name="">
            <a:extLst xmlns:a="http://schemas.openxmlformats.org/drawingml/2006/main">
              <a:ext uri="{FF2B5EF4-FFF2-40B4-BE49-F238E27FC236}">
                <a16:creationId xmlns:a16="http://schemas.microsoft.com/office/drawing/2014/main" id="{ABDFEA5D-88D7-40A2-B165-697DF0EC8D1E}"/>
              </a:ext>
            </a:extLst>
          </p:cNvPr>
          <p:cNvSpPr>
            <a:spLocks xmlns:a="http://schemas.openxmlformats.org/drawingml/2006/main" noGrp="1"/>
          </p:cNvSpPr>
          <p:nvPr/>
        </p:nvSpPr>
        <p:spPr>
          <a:xfrm xmlns:a="http://schemas.openxmlformats.org/drawingml/2006/main">
            <a:off x="8026400" y="4057650"/>
            <a:ext cx="3384550" cy="1676400"/>
          </a:xfrm>
          <a:prstGeom xmlns:a="http://schemas.openxmlformats.org/drawingml/2006/main" prst="roundRect">
            <a:avLst>
              <a:gd name="adj" fmla="val 4545"/>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7" name="">
            <a:extLst xmlns:a="http://schemas.openxmlformats.org/drawingml/2006/main">
              <a:ext uri="{FF2B5EF4-FFF2-40B4-BE49-F238E27FC236}">
                <a16:creationId xmlns:a16="http://schemas.microsoft.com/office/drawing/2014/main" id="{084F7445-861E-462C-9128-2F06996B92A9}"/>
              </a:ext>
            </a:extLst>
          </p:cNvPr>
          <p:cNvSpPr>
            <a:spLocks xmlns:a="http://schemas.openxmlformats.org/drawingml/2006/main" noGrp="1"/>
          </p:cNvSpPr>
          <p:nvPr/>
        </p:nvSpPr>
        <p:spPr>
          <a:xfrm xmlns:a="http://schemas.openxmlformats.org/drawingml/2006/main">
            <a:off x="8026400" y="4057650"/>
            <a:ext cx="76200" cy="1676400"/>
          </a:xfrm>
          <a:prstGeom xmlns:a="http://schemas.openxmlformats.org/drawingml/2006/main" prst="rect">
            <a:avLst/>
          </a:prstGeom>
          <a:solidFill xmlns:a="http://schemas.openxmlformats.org/drawingml/2006/main">
            <a:srgbClr val="27C47D"/>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79ABA208-3316-4ABD-9906-155D7B7D3BA7}"/>
              </a:ext>
            </a:extLst>
          </p:cNvPr>
          <p:cNvSpPr>
            <a:spLocks xmlns:a="http://schemas.openxmlformats.org/drawingml/2006/main" noGrp="1"/>
          </p:cNvSpPr>
          <p:nvPr/>
        </p:nvSpPr>
        <p:spPr>
          <a:xfrm xmlns:a="http://schemas.openxmlformats.org/drawingml/2006/main">
            <a:off x="8235950" y="4286250"/>
            <a:ext cx="514350" cy="514350"/>
          </a:xfrm>
          <a:prstGeom xmlns:a="http://schemas.openxmlformats.org/drawingml/2006/main" prst="ellipse">
            <a:avLst/>
          </a:prstGeom>
          <a:solidFill xmlns:a="http://schemas.openxmlformats.org/drawingml/2006/main">
            <a:srgbClr val="F7F4ED">
              <a:alpha val="96078"/>
            </a:srgbClr>
          </a:solidFill>
          <a:ln xmlns:a="http://schemas.openxmlformats.org/drawingml/2006/main" w="11430">
            <a:solidFill>
              <a:srgbClr val="101214"/>
            </a:solidFill>
            <a:prstDash val="solid"/>
          </a:ln>
        </p:spPr>
      </p:sp>
      <p:sp>
        <p:nvSpPr>
          <p:cNvPr id="29" name="">
            <a:extLst xmlns:a="http://schemas.openxmlformats.org/drawingml/2006/main">
              <a:ext uri="{FF2B5EF4-FFF2-40B4-BE49-F238E27FC236}">
                <a16:creationId xmlns:a16="http://schemas.microsoft.com/office/drawing/2014/main" id="{8BEC8E09-7EE4-49D4-A916-7555C60E15B7}"/>
              </a:ext>
            </a:extLst>
          </p:cNvPr>
          <p:cNvSpPr>
            <a:spLocks xmlns:a="http://schemas.openxmlformats.org/drawingml/2006/main" noGrp="1"/>
          </p:cNvSpPr>
          <p:nvPr/>
        </p:nvSpPr>
        <p:spPr>
          <a:xfrm xmlns:a="http://schemas.openxmlformats.org/drawingml/2006/main">
            <a:off x="8359775" y="4429125"/>
            <a:ext cx="247650" cy="123825"/>
          </a:xfrm>
          <a:prstGeom xmlns:a="http://schemas.openxmlformats.org/drawingml/2006/main" prst="roundRect">
            <a:avLst>
              <a:gd name="adj" fmla="val 50000"/>
            </a:avLst>
          </a:prstGeom>
          <a:solidFill xmlns:a="http://schemas.openxmlformats.org/drawingml/2006/main">
            <a:srgbClr val="27C47D"/>
          </a:solidFill>
          <a:ln xmlns:a="http://schemas.openxmlformats.org/drawingml/2006/main" w="9525">
            <a:solidFill>
              <a:srgbClr val="101214"/>
            </a:solidFill>
            <a:prstDash val="solid"/>
          </a:ln>
        </p:spPr>
      </p:sp>
      <p:sp>
        <p:nvSpPr>
          <p:cNvPr id="30" name="">
            <a:extLst xmlns:a="http://schemas.openxmlformats.org/drawingml/2006/main">
              <a:ext uri="{FF2B5EF4-FFF2-40B4-BE49-F238E27FC236}">
                <a16:creationId xmlns:a16="http://schemas.microsoft.com/office/drawing/2014/main" id="{ACB24883-5D7B-43AC-94DE-D962F9EB2D2D}"/>
              </a:ext>
            </a:extLst>
          </p:cNvPr>
          <p:cNvSpPr>
            <a:spLocks xmlns:a="http://schemas.openxmlformats.org/drawingml/2006/main" noGrp="1"/>
          </p:cNvSpPr>
          <p:nvPr/>
        </p:nvSpPr>
        <p:spPr>
          <a:xfrm xmlns:a="http://schemas.openxmlformats.org/drawingml/2006/main">
            <a:off x="8407400" y="4514850"/>
            <a:ext cx="247650" cy="123825"/>
          </a:xfrm>
          <a:prstGeom xmlns:a="http://schemas.openxmlformats.org/drawingml/2006/main" prst="roundRect">
            <a:avLst>
              <a:gd name="adj" fmla="val 50000"/>
            </a:avLst>
          </a:prstGeom>
          <a:solidFill xmlns:a="http://schemas.openxmlformats.org/drawingml/2006/main">
            <a:srgbClr val="D7A83D"/>
          </a:solidFill>
          <a:ln xmlns:a="http://schemas.openxmlformats.org/drawingml/2006/main" w="9525">
            <a:solidFill>
              <a:srgbClr val="101214"/>
            </a:solidFill>
            <a:prstDash val="solid"/>
          </a:ln>
        </p:spPr>
      </p:sp>
      <p:sp>
        <p:nvSpPr>
          <p:cNvPr id="31" name="">
            <a:extLst xmlns:a="http://schemas.openxmlformats.org/drawingml/2006/main">
              <a:ext uri="{FF2B5EF4-FFF2-40B4-BE49-F238E27FC236}">
                <a16:creationId xmlns:a16="http://schemas.microsoft.com/office/drawing/2014/main" id="{6FA17E5C-1FD1-4B16-B54F-A4C4E1E59CFE}"/>
              </a:ext>
            </a:extLst>
          </p:cNvPr>
          <p:cNvSpPr>
            <a:spLocks xmlns:a="http://schemas.openxmlformats.org/drawingml/2006/main" noGrp="1"/>
          </p:cNvSpPr>
          <p:nvPr/>
        </p:nvSpPr>
        <p:spPr>
          <a:xfrm xmlns:a="http://schemas.openxmlformats.org/drawingml/2006/main">
            <a:off x="8455025" y="4600575"/>
            <a:ext cx="190500" cy="95250"/>
          </a:xfrm>
          <a:prstGeom xmlns:a="http://schemas.openxmlformats.org/drawingml/2006/main" prst="roundRect">
            <a:avLst>
              <a:gd name="adj" fmla="val 50000"/>
            </a:avLst>
          </a:prstGeom>
          <a:solidFill xmlns:a="http://schemas.openxmlformats.org/drawingml/2006/main">
            <a:srgbClr val="E86F5B"/>
          </a:solidFill>
          <a:ln xmlns:a="http://schemas.openxmlformats.org/drawingml/2006/main" w="9525">
            <a:solidFill>
              <a:srgbClr val="101214"/>
            </a:solidFill>
            <a:prstDash val="solid"/>
          </a:ln>
        </p:spPr>
      </p:sp>
      <p:sp>
        <p:nvSpPr>
          <p:cNvPr id="32" name="">
            <a:extLst xmlns:a="http://schemas.openxmlformats.org/drawingml/2006/main">
              <a:ext uri="{FF2B5EF4-FFF2-40B4-BE49-F238E27FC236}">
                <a16:creationId xmlns:a16="http://schemas.microsoft.com/office/drawing/2014/main" id="{2BC321C2-9F7E-4D33-B461-E07E996DAAF2}"/>
              </a:ext>
            </a:extLst>
          </p:cNvPr>
          <p:cNvSpPr>
            <a:spLocks xmlns:a="http://schemas.openxmlformats.org/drawingml/2006/main" noGrp="1"/>
          </p:cNvSpPr>
          <p:nvPr/>
        </p:nvSpPr>
        <p:spPr>
          <a:xfrm xmlns:a="http://schemas.openxmlformats.org/drawingml/2006/main">
            <a:off x="8864600" y="4267200"/>
            <a:ext cx="235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16B49"/>
                </a:solidFill>
              </a:defRPr>
            </a:pPr>
            <a:r>
              <a:rPr sz="1125" b="1">
                <a:solidFill>
                  <a:srgbClr val="116B49"/>
                </a:solidFill>
              </a:rPr>
              <a:t>后续展望</a:t>
            </a:r>
          </a:p>
        </p:txBody>
      </p:sp>
      <p:sp>
        <p:nvSpPr>
          <p:cNvPr id="33" name="">
            <a:extLst xmlns:a="http://schemas.openxmlformats.org/drawingml/2006/main">
              <a:ext uri="{FF2B5EF4-FFF2-40B4-BE49-F238E27FC236}">
                <a16:creationId xmlns:a16="http://schemas.microsoft.com/office/drawing/2014/main" id="{DF666328-0B72-42F1-A6DF-88BC7DB80B18}"/>
              </a:ext>
            </a:extLst>
          </p:cNvPr>
          <p:cNvSpPr>
            <a:spLocks xmlns:a="http://schemas.openxmlformats.org/drawingml/2006/main" noGrp="1"/>
          </p:cNvSpPr>
          <p:nvPr/>
        </p:nvSpPr>
        <p:spPr>
          <a:xfrm xmlns:a="http://schemas.openxmlformats.org/drawingml/2006/main">
            <a:off x="8255000" y="4876800"/>
            <a:ext cx="292735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1214"/>
                </a:solidFill>
              </a:defRPr>
            </a:pPr>
            <a:r>
              <a:rPr sz="1125" b="0">
                <a:solidFill>
                  <a:srgbClr val="101214"/>
                </a:solidFill>
              </a:rPr>
              <a:t>可继续扩展真实控制器映射、故障告警、移动端协同、更精细能耗分析与历史回放。</a:t>
            </a:r>
          </a:p>
        </p:txBody>
      </p:sp>
      <p:sp>
        <p:nvSpPr>
          <p:cNvPr id="34" name="">
            <a:extLst xmlns:a="http://schemas.openxmlformats.org/drawingml/2006/main">
              <a:ext uri="{FF2B5EF4-FFF2-40B4-BE49-F238E27FC236}">
                <a16:creationId xmlns:a16="http://schemas.microsoft.com/office/drawing/2014/main" id="{C424C128-336B-41DC-8067-51DB25DADC8C}"/>
              </a:ext>
            </a:extLst>
          </p:cNvPr>
          <p:cNvSpPr>
            <a:spLocks xmlns:a="http://schemas.openxmlformats.org/drawingml/2006/main" noGrp="1"/>
          </p:cNvSpPr>
          <p:nvPr/>
        </p:nvSpPr>
        <p:spPr>
          <a:xfrm xmlns:a="http://schemas.openxmlformats.org/drawingml/2006/main">
            <a:off x="609600" y="6419850"/>
            <a:ext cx="933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87076"/>
                </a:solidFill>
              </a:defRPr>
            </a:pPr>
            <a:r>
              <a:rPr sz="750" b="0">
                <a:solidFill>
                  <a:srgbClr val="687076"/>
                </a:solidFill>
              </a:rPr>
              <a:t>Generated art plate is used as visual direction; all meaningful copy and structure are editable PowerPoint objects.</a:t>
            </a:r>
          </a:p>
        </p:txBody>
      </p:sp>
    </p:spTree>
    <p:extLst>
      <p:ext uri="{BB962C8B-B14F-4D97-AF65-F5344CB8AC3E}">
        <p14:creationId xmlns:p14="http://schemas.microsoft.com/office/powerpoint/2010/main" val="18014338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2026-04-20T05:33:22.6400000Z</dcterms:created>
  <dcterms:modified xsi:type="dcterms:W3CDTF">2026-04-20T05:33:22.6400000Z</dcterms:modified>
</coreProperties>
</file>